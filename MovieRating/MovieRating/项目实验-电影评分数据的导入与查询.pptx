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5" r:id="rId3"/>
  </p:sldMasterIdLst>
  <p:notesMasterIdLst>
    <p:notesMasterId r:id="rId20"/>
  </p:notesMasterIdLst>
  <p:handoutMasterIdLst>
    <p:handoutMasterId r:id="rId26"/>
  </p:handoutMasterIdLst>
  <p:sldIdLst>
    <p:sldId id="256" r:id="rId4"/>
    <p:sldId id="472" r:id="rId5"/>
    <p:sldId id="626" r:id="rId6"/>
    <p:sldId id="621" r:id="rId7"/>
    <p:sldId id="643" r:id="rId8"/>
    <p:sldId id="660" r:id="rId9"/>
    <p:sldId id="428" r:id="rId10"/>
    <p:sldId id="622" r:id="rId11"/>
    <p:sldId id="597" r:id="rId12"/>
    <p:sldId id="623" r:id="rId13"/>
    <p:sldId id="624" r:id="rId14"/>
    <p:sldId id="625" r:id="rId15"/>
    <p:sldId id="628" r:id="rId16"/>
    <p:sldId id="627" r:id="rId17"/>
    <p:sldId id="629" r:id="rId18"/>
    <p:sldId id="631" r:id="rId19"/>
    <p:sldId id="632" r:id="rId21"/>
    <p:sldId id="630" r:id="rId22"/>
    <p:sldId id="633" r:id="rId23"/>
    <p:sldId id="634" r:id="rId24"/>
    <p:sldId id="635" r:id="rId25"/>
  </p:sldIdLst>
  <p:sldSz cx="9144000" cy="6858000" type="screen4x3"/>
  <p:notesSz cx="6858000" cy="9144000"/>
  <p:custDataLst>
    <p:tags r:id="rId30"/>
  </p:custDataLst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9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00"/>
    <a:srgbClr val="666633"/>
    <a:srgbClr val="CC6600"/>
    <a:srgbClr val="EAEAEA"/>
    <a:srgbClr val="00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69" d="100"/>
          <a:sy n="69" d="100"/>
        </p:scale>
        <p:origin x="1416" y="60"/>
      </p:cViewPr>
      <p:guideLst>
        <p:guide orient="horz" pos="2160"/>
        <p:guide pos="2902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198" cy="7619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0" Type="http://schemas.openxmlformats.org/officeDocument/2006/relationships/tags" Target="tags/tag1.xml"/><Relationship Id="rId3" Type="http://schemas.openxmlformats.org/officeDocument/2006/relationships/slideMaster" Target="slideMasters/slideMaster2.xml"/><Relationship Id="rId29" Type="http://schemas.openxmlformats.org/officeDocument/2006/relationships/tableStyles" Target="tableStyles.xml"/><Relationship Id="rId28" Type="http://schemas.openxmlformats.org/officeDocument/2006/relationships/viewProps" Target="viewProps.xml"/><Relationship Id="rId27" Type="http://schemas.openxmlformats.org/officeDocument/2006/relationships/presProps" Target="presProps.xml"/><Relationship Id="rId26" Type="http://schemas.openxmlformats.org/officeDocument/2006/relationships/handoutMaster" Target="handoutMasters/handoutMaster1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notesMaster" Target="notesMasters/notesMaster1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6.wmf"/><Relationship Id="rId1" Type="http://schemas.openxmlformats.org/officeDocument/2006/relationships/image" Target="../media/image15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fontAlgn="base"/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fontAlgn="base"/>
            <a:fld id="{0F9B84EA-7D68-4D60-9CB1-D50884785D1C}" type="datetimeFigureOut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fontAlgn="base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fontAlgn="base"/>
            <a:fld id="{8D4E0FC9-F1F8-4FAE-9988-3BA365CFD46F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buFont typeface="Arial" panose="020B0604020202020204" pitchFamily="34" charset="0"/>
              <a:buNone/>
              <a:defRPr sz="1200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r">
              <a:buFont typeface="Arial" panose="020B0604020202020204" pitchFamily="34" charset="0"/>
              <a:buNone/>
              <a:defRPr sz="1200"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196" name="Rectangle 4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20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单击此处编辑母版文本样式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第二级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第三级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第四级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buFont typeface="Arial" panose="020B0604020202020204" pitchFamily="34" charset="0"/>
              <a:buNone/>
              <a:defRPr sz="1200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/>
          <a:p>
            <a:pPr lvl="0" algn="r" eaLnBrk="1" fontAlgn="base" hangingPunct="1">
              <a:buNone/>
            </a:pPr>
            <a:fld id="{9A0DB2DC-4C9A-4742-B13C-FB6460FD3503}" type="slidenum">
              <a:rPr lang="en-US" altLang="zh-CN" sz="1200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z="1200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 txBox="1"/>
          <p:nvPr/>
        </p:nvSpPr>
        <p:spPr bwMode="auto">
          <a:xfrm>
            <a:off x="1143000" y="76200"/>
            <a:ext cx="8001000" cy="9144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单击此处编辑母版标题样式</a:t>
            </a: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43000" y="76200"/>
            <a:ext cx="8001000" cy="914400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title"/>
          </p:nvPr>
        </p:nvSpPr>
        <p:spPr bwMode="auto">
          <a:xfrm>
            <a:off x="1752600" y="76200"/>
            <a:ext cx="7391400" cy="9144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lvl="0" fontAlgn="base"/>
            <a:r>
              <a:rPr lang="zh-CN" strike="noStrike" noProof="1"/>
              <a:t>单击此处编辑母版标题样式</a:t>
            </a:r>
            <a:endParaRPr lang="zh-CN" strike="noStrike" noProof="1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title"/>
          </p:nvPr>
        </p:nvSpPr>
        <p:spPr bwMode="auto">
          <a:xfrm>
            <a:off x="1143000" y="76200"/>
            <a:ext cx="8001000" cy="9144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lvl="0" fontAlgn="base"/>
            <a:r>
              <a:rPr lang="zh-CN" strike="noStrike" noProof="1"/>
              <a:t>单击此处编辑母版标题样式</a:t>
            </a:r>
            <a:endParaRPr lang="zh-CN" strike="noStrike" noProof="1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 txBox="1"/>
          <p:nvPr/>
        </p:nvSpPr>
        <p:spPr bwMode="auto">
          <a:xfrm>
            <a:off x="1143000" y="76200"/>
            <a:ext cx="8001000" cy="9144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单击此处编辑母版标题样式</a:t>
            </a: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43000" y="76200"/>
            <a:ext cx="8001000" cy="914400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title"/>
          </p:nvPr>
        </p:nvSpPr>
        <p:spPr bwMode="auto">
          <a:xfrm>
            <a:off x="1752600" y="76200"/>
            <a:ext cx="7391400" cy="9144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lvl="0" fontAlgn="base"/>
            <a:r>
              <a:rPr lang="zh-CN" strike="noStrike" noProof="1"/>
              <a:t>单击此处编辑母版标题样式</a:t>
            </a:r>
            <a:endParaRPr lang="zh-CN" strike="noStrike" noProof="1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title"/>
          </p:nvPr>
        </p:nvSpPr>
        <p:spPr bwMode="auto">
          <a:xfrm>
            <a:off x="1143000" y="76200"/>
            <a:ext cx="8001000" cy="9144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lvl="0" fontAlgn="base"/>
            <a:r>
              <a:rPr lang="zh-CN" strike="noStrike" noProof="1"/>
              <a:t>单击此处编辑母版标题样式</a:t>
            </a:r>
            <a:endParaRPr lang="zh-CN" strike="noStrike" noProof="1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7" Type="http://schemas.openxmlformats.org/officeDocument/2006/relationships/theme" Target="../theme/theme2.xml"/><Relationship Id="rId6" Type="http://schemas.openxmlformats.org/officeDocument/2006/relationships/slideLayout" Target="../slideLayouts/slideLayout12.xml"/><Relationship Id="rId5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0.xml"/><Relationship Id="rId3" Type="http://schemas.openxmlformats.org/officeDocument/2006/relationships/slideLayout" Target="../slideLayouts/slideLayout9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27" name="Rectangle 7"/>
          <p:cNvSpPr>
            <a:spLocks noChangeArrowheads="1"/>
          </p:cNvSpPr>
          <p:nvPr/>
        </p:nvSpPr>
        <p:spPr bwMode="auto">
          <a:xfrm>
            <a:off x="0" y="0"/>
            <a:ext cx="9144000" cy="1066800"/>
          </a:xfrm>
          <a:prstGeom prst="rect">
            <a:avLst/>
          </a:prstGeom>
          <a:solidFill>
            <a:srgbClr val="0056AC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8" name="Rectangle 11"/>
          <p:cNvSpPr>
            <a:spLocks noGrp="1"/>
          </p:cNvSpPr>
          <p:nvPr>
            <p:ph type="title"/>
          </p:nvPr>
        </p:nvSpPr>
        <p:spPr>
          <a:xfrm>
            <a:off x="1143000" y="76200"/>
            <a:ext cx="8001000" cy="9144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Arial" panose="020B0604020202020204" pitchFamily="34" charset="0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Arial" panose="020B0604020202020204" pitchFamily="34" charset="0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Arial" panose="020B0604020202020204" pitchFamily="34" charset="0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Arial" panose="020B0604020202020204" pitchFamily="34" charset="0"/>
          <a:ea typeface="黑体" panose="02010609060101010101" pitchFamily="49" charset="-122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Arial" panose="020B0604020202020204" pitchFamily="34" charset="0"/>
          <a:ea typeface="黑体" panose="02010609060101010101" pitchFamily="49" charset="-122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Arial" panose="020B0604020202020204" pitchFamily="34" charset="0"/>
          <a:ea typeface="黑体" panose="02010609060101010101" pitchFamily="49" charset="-122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Arial" panose="020B0604020202020204" pitchFamily="34" charset="0"/>
          <a:ea typeface="黑体" panose="02010609060101010101" pitchFamily="49" charset="-122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Arial" panose="020B0604020202020204" pitchFamily="34" charset="0"/>
          <a:ea typeface="黑体" panose="02010609060101010101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3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27" name="Rectangle 7"/>
          <p:cNvSpPr>
            <a:spLocks noChangeArrowheads="1"/>
          </p:cNvSpPr>
          <p:nvPr/>
        </p:nvSpPr>
        <p:spPr bwMode="auto">
          <a:xfrm>
            <a:off x="0" y="0"/>
            <a:ext cx="9144000" cy="1066800"/>
          </a:xfrm>
          <a:prstGeom prst="rect">
            <a:avLst/>
          </a:prstGeom>
          <a:solidFill>
            <a:srgbClr val="0056AC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2" name="Rectangle 11"/>
          <p:cNvSpPr>
            <a:spLocks noGrp="1"/>
          </p:cNvSpPr>
          <p:nvPr>
            <p:ph type="title"/>
          </p:nvPr>
        </p:nvSpPr>
        <p:spPr>
          <a:xfrm>
            <a:off x="1143000" y="76200"/>
            <a:ext cx="8001000" cy="9144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7" r:id="rId2"/>
    <p:sldLayoutId id="2147483658" r:id="rId3"/>
    <p:sldLayoutId id="2147483659" r:id="rId4"/>
    <p:sldLayoutId id="2147483660" r:id="rId5"/>
    <p:sldLayoutId id="2147483661" r:id="rId6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Arial" panose="020B0604020202020204" pitchFamily="34" charset="0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Arial" panose="020B0604020202020204" pitchFamily="34" charset="0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Arial" panose="020B0604020202020204" pitchFamily="34" charset="0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Arial" panose="020B0604020202020204" pitchFamily="34" charset="0"/>
          <a:ea typeface="黑体" panose="02010609060101010101" pitchFamily="49" charset="-122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Arial" panose="020B0604020202020204" pitchFamily="34" charset="0"/>
          <a:ea typeface="黑体" panose="02010609060101010101" pitchFamily="49" charset="-122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Arial" panose="020B0604020202020204" pitchFamily="34" charset="0"/>
          <a:ea typeface="黑体" panose="02010609060101010101" pitchFamily="49" charset="-122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Arial" panose="020B0604020202020204" pitchFamily="34" charset="0"/>
          <a:ea typeface="黑体" panose="02010609060101010101" pitchFamily="49" charset="-122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Arial" panose="020B0604020202020204" pitchFamily="34" charset="0"/>
          <a:ea typeface="黑体" panose="02010609060101010101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3.wmf"/><Relationship Id="rId1" Type="http://schemas.openxmlformats.org/officeDocument/2006/relationships/oleObject" Target="../embeddings/oleObject1.bin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2.vml"/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13.wmf"/><Relationship Id="rId2" Type="http://schemas.openxmlformats.org/officeDocument/2006/relationships/oleObject" Target="../embeddings/oleObject2.bin"/><Relationship Id="rId1" Type="http://schemas.openxmlformats.org/officeDocument/2006/relationships/image" Target="../media/image12.png"/></Relationships>
</file>

<file path=ppt/slides/_rels/slide19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3.vml"/><Relationship Id="rId6" Type="http://schemas.openxmlformats.org/officeDocument/2006/relationships/slideLayout" Target="../slideLayouts/slideLayout3.xml"/><Relationship Id="rId5" Type="http://schemas.openxmlformats.org/officeDocument/2006/relationships/image" Target="../media/image16.wmf"/><Relationship Id="rId4" Type="http://schemas.openxmlformats.org/officeDocument/2006/relationships/oleObject" Target="../embeddings/oleObject4.bin"/><Relationship Id="rId3" Type="http://schemas.openxmlformats.org/officeDocument/2006/relationships/image" Target="../media/image15.emf"/><Relationship Id="rId2" Type="http://schemas.openxmlformats.org/officeDocument/2006/relationships/oleObject" Target="../embeddings/oleObject3.bin"/><Relationship Id="rId1" Type="http://schemas.openxmlformats.org/officeDocument/2006/relationships/image" Target="../media/image14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标题 17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endParaRPr lang="zh-CN" altLang="en-US" dirty="0"/>
          </a:p>
        </p:txBody>
      </p:sp>
      <p:sp>
        <p:nvSpPr>
          <p:cNvPr id="9218" name="Rectangle 2"/>
          <p:cNvSpPr/>
          <p:nvPr/>
        </p:nvSpPr>
        <p:spPr>
          <a:xfrm>
            <a:off x="0" y="0"/>
            <a:ext cx="9144000" cy="2133600"/>
          </a:xfrm>
          <a:prstGeom prst="rect">
            <a:avLst/>
          </a:prstGeom>
          <a:solidFill>
            <a:srgbClr val="0056AC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Times New Roman" panose="02020603050405020304" pitchFamily="18" charset="0"/>
                <a:sym typeface="+mn-ea"/>
              </a:rPr>
              <a:t>大数据管理与分析</a:t>
            </a:r>
            <a:endParaRPr lang="en-US" altLang="zh-CN" sz="3200" b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endParaRPr lang="en-US" altLang="zh-CN" sz="3200" b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219" name="Rectangle 6"/>
          <p:cNvSpPr txBox="1"/>
          <p:nvPr/>
        </p:nvSpPr>
        <p:spPr>
          <a:xfrm>
            <a:off x="533400" y="2362200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algn="ctr">
              <a:buClrTx/>
              <a:buFontTx/>
            </a:pPr>
            <a:br>
              <a:rPr lang="en-US" altLang="zh-CN" sz="2800" b="1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zh-CN" altLang="en-US" sz="2800" b="1" dirty="0">
                <a:latin typeface="Arial" panose="020B0604020202020204" pitchFamily="34" charset="0"/>
                <a:ea typeface="黑体" panose="02010609060101010101" pitchFamily="49" charset="-122"/>
              </a:rPr>
              <a:t>项目</a:t>
            </a:r>
            <a:r>
              <a:rPr lang="zh-CN" altLang="en-US" sz="2800" b="1" dirty="0">
                <a:latin typeface="Arial" panose="020B0604020202020204" pitchFamily="34" charset="0"/>
                <a:ea typeface="宋体" panose="02010600030101010101" pitchFamily="2" charset="-122"/>
              </a:rPr>
              <a:t>实验</a:t>
            </a:r>
            <a:r>
              <a:rPr lang="en-US" altLang="zh-CN" sz="2800" b="1" dirty="0"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r>
              <a:rPr lang="zh-CN" altLang="en-US" sz="2800" b="1" dirty="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zh-CN" altLang="en-US" sz="2800" b="1" dirty="0" err="1">
                <a:latin typeface="Arial" panose="020B0604020202020204" pitchFamily="34" charset="0"/>
                <a:ea typeface="宋体" panose="02010600030101010101" pitchFamily="2" charset="-122"/>
              </a:rPr>
              <a:t>电影评分数据的导入与查询</a:t>
            </a:r>
            <a:endParaRPr lang="en-US" altLang="zh-CN" sz="2800" b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ctr">
              <a:buClrTx/>
              <a:buFontTx/>
            </a:pPr>
            <a:endParaRPr lang="zh-CN" altLang="en-US" sz="2800" dirty="0"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9220" name="Oval 7"/>
          <p:cNvSpPr/>
          <p:nvPr/>
        </p:nvSpPr>
        <p:spPr>
          <a:xfrm>
            <a:off x="1447800" y="304800"/>
            <a:ext cx="990600" cy="1600200"/>
          </a:xfrm>
          <a:prstGeom prst="ellipse">
            <a:avLst/>
          </a:prstGeom>
          <a:noFill/>
          <a:ln w="9525">
            <a:noFill/>
          </a:ln>
        </p:spPr>
        <p:txBody>
          <a:bodyPr wrap="none" anchor="ctr" anchorCtr="0"/>
          <a:lstStyle/>
          <a:p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9221" name="Rectangle 9"/>
          <p:cNvSpPr/>
          <p:nvPr/>
        </p:nvSpPr>
        <p:spPr>
          <a:xfrm>
            <a:off x="0" y="2133600"/>
            <a:ext cx="9144000" cy="152400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100000">
                <a:srgbClr val="C0C0C0"/>
              </a:gs>
            </a:gsLst>
            <a:lin ang="0" scaled="1"/>
            <a:tileRect/>
          </a:gradFill>
          <a:ln w="9525">
            <a:noFill/>
          </a:ln>
        </p:spPr>
        <p:txBody>
          <a:bodyPr wrap="none" anchor="ctr" anchorCtr="0"/>
          <a:lstStyle/>
          <a:p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r>
              <a:rPr lang="zh-CN" altLang="en-US" dirty="0"/>
              <a:t>实验</a:t>
            </a:r>
            <a:r>
              <a:rPr lang="zh-CN" altLang="en-US" dirty="0"/>
              <a:t>内容</a:t>
            </a:r>
            <a:endParaRPr lang="zh-CN" altLang="en-US" dirty="0"/>
          </a:p>
        </p:txBody>
      </p:sp>
      <p:sp>
        <p:nvSpPr>
          <p:cNvPr id="10242" name="TextBox 2"/>
          <p:cNvSpPr txBox="1"/>
          <p:nvPr/>
        </p:nvSpPr>
        <p:spPr>
          <a:xfrm>
            <a:off x="838200" y="1447800"/>
            <a:ext cx="7820025" cy="501205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lstStyle/>
          <a:p>
            <a:r>
              <a:rPr lang="zh-CN" altLang="en-US" sz="20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rPr>
              <a:t>将著名的MovieLens电影评分数据集导入</a:t>
            </a:r>
            <a:r>
              <a:rPr lang="en-US" altLang="zh-CN" sz="20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rPr>
              <a:t>Hbase</a:t>
            </a:r>
            <a:r>
              <a:rPr lang="zh-CN" altLang="en-US" sz="20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rPr>
              <a:t>，并能够通过</a:t>
            </a:r>
            <a:r>
              <a:rPr lang="en-US" altLang="zh-CN" sz="20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rPr>
              <a:t>web</a:t>
            </a:r>
            <a:r>
              <a:rPr lang="zh-CN" altLang="en-US" sz="20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rPr>
              <a:t>页面查询数据。</a:t>
            </a:r>
            <a:endParaRPr lang="zh-CN" altLang="en-US" sz="20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endParaRPr lang="zh-CN" altLang="en-US" sz="20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zh-CN" altLang="en-US" sz="2000" dirty="0">
                <a:sym typeface="+mn-ea"/>
              </a:rPr>
              <a:t>MovieLens数据集包括</a:t>
            </a:r>
            <a:r>
              <a:rPr lang="zh-CN" altLang="en-US" sz="2000" dirty="0">
                <a:latin typeface="Arial" panose="020B0604020202020204" pitchFamily="34" charset="0"/>
                <a:ea typeface="宋体" panose="02010600030101010101" pitchFamily="2" charset="-122"/>
              </a:rPr>
              <a:t>33万用户1995年到2023年期间对8.6万部电影做出的3300万评分数据，230万标签数据。</a:t>
            </a:r>
            <a:endParaRPr lang="zh-CN" altLang="en-US" sz="20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endParaRPr lang="zh-CN" altLang="en-US" sz="20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zh-CN" altLang="en-US" sz="2000" dirty="0">
                <a:latin typeface="Arial" panose="020B0604020202020204" pitchFamily="34" charset="0"/>
                <a:ea typeface="宋体" panose="02010600030101010101" pitchFamily="2" charset="-122"/>
              </a:rPr>
              <a:t>本实验只对电影数据movies.csv和评分</a:t>
            </a:r>
            <a:r>
              <a:rPr lang="zh-CN" altLang="en-US" sz="2000" dirty="0">
                <a:latin typeface="Arial" panose="020B0604020202020204" pitchFamily="34" charset="0"/>
                <a:ea typeface="宋体" panose="02010600030101010101" pitchFamily="2" charset="-122"/>
              </a:rPr>
              <a:t>数据ratings.csv进行</a:t>
            </a:r>
            <a:r>
              <a:rPr lang="zh-CN" altLang="en-US" sz="2000" dirty="0">
                <a:latin typeface="Arial" panose="020B0604020202020204" pitchFamily="34" charset="0"/>
                <a:ea typeface="宋体" panose="02010600030101010101" pitchFamily="2" charset="-122"/>
              </a:rPr>
              <a:t>处理。</a:t>
            </a:r>
            <a:endParaRPr lang="zh-CN" altLang="en-US" sz="20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endParaRPr lang="zh-CN" altLang="en-US" sz="20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zh-CN" altLang="en-US" sz="2000" dirty="0">
                <a:sym typeface="+mn-ea"/>
              </a:rPr>
              <a:t>为了便于调试验证，先处理</a:t>
            </a:r>
            <a:r>
              <a:rPr lang="zh-CN" altLang="en-US" sz="2000" dirty="0">
                <a:latin typeface="Arial" panose="020B0604020202020204" pitchFamily="34" charset="0"/>
                <a:ea typeface="宋体" panose="02010600030101010101" pitchFamily="2" charset="-122"/>
              </a:rPr>
              <a:t>其中的ml-latest-small抽样数据集，全量数据集作为选做</a:t>
            </a:r>
            <a:r>
              <a:rPr lang="zh-CN" altLang="en-US" sz="2000" dirty="0">
                <a:latin typeface="Arial" panose="020B0604020202020204" pitchFamily="34" charset="0"/>
                <a:ea typeface="宋体" panose="02010600030101010101" pitchFamily="2" charset="-122"/>
              </a:rPr>
              <a:t>项。</a:t>
            </a:r>
            <a:endParaRPr lang="zh-CN" altLang="en-US" sz="20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endParaRPr lang="zh-CN" altLang="en-US" sz="20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endParaRPr lang="zh-CN" altLang="en-US" sz="20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zh-CN" altLang="en-US" sz="2000" dirty="0">
                <a:latin typeface="Arial" panose="020B0604020202020204" pitchFamily="34" charset="0"/>
                <a:ea typeface="宋体" panose="02010600030101010101" pitchFamily="2" charset="-122"/>
              </a:rPr>
              <a:t>附：数据集</a:t>
            </a:r>
            <a:r>
              <a:rPr lang="zh-CN" altLang="en-US" sz="2000" dirty="0">
                <a:latin typeface="Arial" panose="020B0604020202020204" pitchFamily="34" charset="0"/>
                <a:ea typeface="宋体" panose="02010600030101010101" pitchFamily="2" charset="-122"/>
              </a:rPr>
              <a:t>网站</a:t>
            </a:r>
            <a:endParaRPr lang="zh-CN" altLang="en-US" sz="20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https://grouplens.org/datasets/movielens/</a:t>
            </a:r>
            <a:endParaRPr lang="en-US" altLang="zh-CN" sz="20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endParaRPr lang="en-US" altLang="zh-CN" sz="20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endParaRPr lang="en-US" altLang="zh-CN" sz="20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r>
              <a:rPr lang="zh-CN" altLang="en-US" dirty="0"/>
              <a:t>实验内容</a:t>
            </a:r>
            <a:r>
              <a:rPr lang="en-US" altLang="zh-CN" dirty="0"/>
              <a:t>-</a:t>
            </a:r>
            <a:r>
              <a:rPr lang="zh-CN" altLang="en-US" dirty="0"/>
              <a:t>数据</a:t>
            </a:r>
            <a:r>
              <a:rPr lang="zh-CN" altLang="en-US" dirty="0"/>
              <a:t>文件</a:t>
            </a:r>
            <a:endParaRPr lang="zh-CN" altLang="en-US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5400" y="1142365"/>
            <a:ext cx="5645150" cy="273494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0" y="4114165"/>
            <a:ext cx="3052445" cy="215328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r>
              <a:rPr lang="zh-CN" altLang="en-US" dirty="0"/>
              <a:t>实验</a:t>
            </a:r>
            <a:r>
              <a:rPr lang="zh-CN" altLang="en-US" dirty="0"/>
              <a:t>评价</a:t>
            </a:r>
            <a:endParaRPr lang="zh-CN" altLang="en-US" dirty="0"/>
          </a:p>
        </p:txBody>
      </p:sp>
      <p:sp>
        <p:nvSpPr>
          <p:cNvPr id="10242" name="TextBox 2"/>
          <p:cNvSpPr txBox="1"/>
          <p:nvPr/>
        </p:nvSpPr>
        <p:spPr>
          <a:xfrm>
            <a:off x="838200" y="1447800"/>
            <a:ext cx="7820025" cy="501205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lstStyle/>
          <a:p>
            <a:r>
              <a:rPr lang="zh-CN" altLang="en-US" sz="20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rPr>
              <a:t>本项目实验</a:t>
            </a:r>
            <a:r>
              <a:rPr lang="zh-CN" altLang="en-US" sz="2000" b="1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分组</a:t>
            </a:r>
            <a:r>
              <a:rPr lang="zh-CN" altLang="en-US" sz="20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rPr>
              <a:t>完成，每组</a:t>
            </a:r>
            <a:r>
              <a:rPr lang="en-US" altLang="zh-CN" sz="20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rPr>
              <a:t>3-4</a:t>
            </a:r>
            <a:r>
              <a:rPr lang="zh-CN" altLang="en-US" sz="20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rPr>
              <a:t>人。</a:t>
            </a:r>
            <a:endParaRPr lang="zh-CN" altLang="en-US" sz="20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endParaRPr lang="zh-CN" altLang="en-US" sz="20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zh-CN" altLang="en-US" sz="20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rPr>
              <a:t>第七周课上，各组派代表展示完成</a:t>
            </a:r>
            <a:r>
              <a:rPr lang="zh-CN" altLang="en-US" sz="20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rPr>
              <a:t>情况，得到每个组的分数</a:t>
            </a:r>
            <a:r>
              <a:rPr lang="en-US" altLang="zh-CN" sz="20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rPr>
              <a:t>A</a:t>
            </a:r>
            <a:r>
              <a:rPr lang="zh-CN" altLang="en-US" sz="20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rPr>
              <a:t>，基本功能</a:t>
            </a:r>
            <a:r>
              <a:rPr lang="zh-CN" altLang="en-US" sz="2000" b="1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未完成的不得分</a:t>
            </a:r>
            <a:r>
              <a:rPr lang="zh-CN" altLang="en-US" sz="20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rPr>
              <a:t>。</a:t>
            </a:r>
            <a:endParaRPr lang="zh-CN" altLang="en-US" sz="20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endParaRPr lang="zh-CN" altLang="en-US" sz="20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zh-CN" altLang="en-US" sz="20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rPr>
              <a:t>每组内部参考提交的代码情况讨论组员的贡献，贡献系数分别为</a:t>
            </a:r>
            <a:r>
              <a:rPr lang="en-US" altLang="zh-CN" sz="20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rPr>
              <a:t>1.1</a:t>
            </a:r>
            <a:r>
              <a:rPr lang="zh-CN" altLang="en-US" sz="20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rPr>
              <a:t>，</a:t>
            </a:r>
            <a:r>
              <a:rPr lang="en-US" altLang="zh-CN" sz="20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rPr>
              <a:t>1.0</a:t>
            </a:r>
            <a:r>
              <a:rPr lang="zh-CN" altLang="en-US" sz="20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rPr>
              <a:t>，</a:t>
            </a:r>
            <a:r>
              <a:rPr lang="en-US" altLang="zh-CN" sz="20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rPr>
              <a:t>0.9</a:t>
            </a:r>
            <a:r>
              <a:rPr lang="zh-CN" altLang="en-US" sz="20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rPr>
              <a:t>。</a:t>
            </a:r>
            <a:endParaRPr lang="zh-CN" altLang="en-US" sz="20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endParaRPr lang="zh-CN" altLang="en-US" sz="20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zh-CN" altLang="en-US" sz="20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rPr>
              <a:t>每个人的本次得分为</a:t>
            </a:r>
            <a:r>
              <a:rPr lang="en-US" altLang="zh-CN" sz="20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rPr>
              <a:t>A*B</a:t>
            </a:r>
            <a:r>
              <a:rPr lang="zh-CN" altLang="en-US" sz="20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rPr>
              <a:t>，占本学期成绩的</a:t>
            </a:r>
            <a:r>
              <a:rPr lang="en-US" altLang="zh-CN" sz="20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rPr>
              <a:t>20%</a:t>
            </a:r>
            <a:r>
              <a:rPr lang="zh-CN" altLang="en-US" sz="20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rPr>
              <a:t>。</a:t>
            </a:r>
            <a:endParaRPr lang="zh-CN" altLang="en-US" sz="20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endParaRPr lang="zh-CN" altLang="en-US" sz="20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r>
              <a:rPr lang="zh-CN" altLang="en-US" dirty="0"/>
              <a:t>实验</a:t>
            </a:r>
            <a:r>
              <a:rPr lang="zh-CN" altLang="en-US" dirty="0"/>
              <a:t>评价</a:t>
            </a:r>
            <a:endParaRPr lang="zh-CN" altLang="en-US" dirty="0"/>
          </a:p>
        </p:txBody>
      </p:sp>
      <p:sp>
        <p:nvSpPr>
          <p:cNvPr id="10242" name="TextBox 2"/>
          <p:cNvSpPr txBox="1"/>
          <p:nvPr/>
        </p:nvSpPr>
        <p:spPr>
          <a:xfrm>
            <a:off x="762000" y="1219200"/>
            <a:ext cx="7820025" cy="501205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lstStyle/>
          <a:p>
            <a:r>
              <a:rPr lang="zh-CN" altLang="en-US" sz="20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rPr>
              <a:t>展示</a:t>
            </a:r>
            <a:r>
              <a:rPr lang="zh-CN" altLang="en-US" sz="20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rPr>
              <a:t>内容：</a:t>
            </a:r>
            <a:endParaRPr lang="zh-CN" altLang="en-US" sz="20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r>
              <a:rPr lang="zh-CN" altLang="en-US" sz="20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rPr>
              <a:t>功能</a:t>
            </a:r>
            <a:r>
              <a:rPr lang="zh-CN" altLang="en-US" sz="20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rPr>
              <a:t>演示</a:t>
            </a:r>
            <a:endParaRPr lang="zh-CN" altLang="en-US" sz="20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endParaRPr lang="zh-CN" altLang="en-US" sz="20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zh-CN" altLang="en-US" sz="20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rPr>
              <a:t>小组分工和</a:t>
            </a:r>
            <a:r>
              <a:rPr lang="zh-CN" altLang="en-US" sz="20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rPr>
              <a:t>贡献</a:t>
            </a:r>
            <a:endParaRPr lang="zh-CN" altLang="en-US" sz="20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endParaRPr lang="zh-CN" altLang="en-US" sz="20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rPr>
              <a:t>3</a:t>
            </a:r>
            <a:r>
              <a:rPr lang="zh-CN" altLang="en-US" sz="20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rPr>
              <a:t>代码</a:t>
            </a:r>
            <a:r>
              <a:rPr lang="zh-CN" altLang="en-US" sz="20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rPr>
              <a:t>讲解</a:t>
            </a:r>
            <a:endParaRPr lang="zh-CN" altLang="en-US" sz="20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endParaRPr lang="zh-CN" altLang="en-US" sz="20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zh-CN" altLang="en-US" sz="20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rPr>
              <a:t>打分项：</a:t>
            </a:r>
            <a:endParaRPr lang="zh-CN" altLang="en-US" sz="20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endParaRPr lang="zh-CN" altLang="en-US" sz="20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rPr>
              <a:t>1.</a:t>
            </a:r>
            <a:r>
              <a:rPr lang="zh-CN" altLang="en-US" sz="20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rPr>
              <a:t>基本功能是否实现，没实现本实验，实现了得</a:t>
            </a:r>
            <a:r>
              <a:rPr lang="en-US" altLang="zh-CN" sz="20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rPr>
              <a:t>60</a:t>
            </a:r>
            <a:r>
              <a:rPr lang="zh-CN" altLang="en-US" sz="20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rPr>
              <a:t>分。</a:t>
            </a:r>
            <a:endParaRPr lang="zh-CN" altLang="en-US" sz="20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endParaRPr lang="zh-CN" altLang="en-US" sz="20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rPr>
              <a:t>2.</a:t>
            </a:r>
            <a:r>
              <a:rPr lang="zh-CN" altLang="en-US" sz="20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rPr>
              <a:t>用户体验，满分</a:t>
            </a:r>
            <a:r>
              <a:rPr lang="en-US" altLang="zh-CN" sz="20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rPr>
              <a:t>20</a:t>
            </a:r>
            <a:r>
              <a:rPr lang="zh-CN" altLang="en-US" sz="20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rPr>
              <a:t>分。</a:t>
            </a:r>
            <a:endParaRPr lang="zh-CN" altLang="en-US" sz="20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endParaRPr lang="zh-CN" altLang="en-US" sz="20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rPr>
              <a:t>3.</a:t>
            </a:r>
            <a:r>
              <a:rPr lang="zh-CN" altLang="en-US" sz="20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rPr>
              <a:t>代码质量，每个小组需要讲解自己的</a:t>
            </a:r>
            <a:r>
              <a:rPr lang="zh-CN" altLang="en-US" sz="20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rPr>
              <a:t>代码，满分</a:t>
            </a:r>
            <a:r>
              <a:rPr lang="en-US" altLang="zh-CN" sz="20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rPr>
              <a:t>20</a:t>
            </a:r>
            <a:r>
              <a:rPr lang="zh-CN" altLang="en-US" sz="20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rPr>
              <a:t>分。</a:t>
            </a:r>
            <a:endParaRPr lang="zh-CN" altLang="en-US" sz="20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endParaRPr lang="zh-CN" altLang="en-US" sz="20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zh-CN" altLang="en-US" sz="20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rPr>
              <a:t>要求代码通过</a:t>
            </a:r>
            <a:r>
              <a:rPr lang="en-US" altLang="zh-CN" sz="20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rPr>
              <a:t>git</a:t>
            </a:r>
            <a:r>
              <a:rPr lang="zh-CN" altLang="en-US" sz="20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rPr>
              <a:t>管理，能够查到每个人的提交记录。</a:t>
            </a:r>
            <a:r>
              <a:rPr lang="en-US" altLang="zh-CN" sz="20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rPr>
              <a:t>git</a:t>
            </a:r>
            <a:r>
              <a:rPr lang="zh-CN" altLang="en-US" sz="20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rPr>
              <a:t>仓库的选择可以用</a:t>
            </a:r>
            <a:r>
              <a:rPr lang="en-US" altLang="zh-CN" sz="20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rPr>
              <a:t>github</a:t>
            </a:r>
            <a:r>
              <a:rPr lang="zh-CN" altLang="en-US" sz="20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rPr>
              <a:t>，</a:t>
            </a:r>
            <a:r>
              <a:rPr lang="en-US" altLang="zh-CN" sz="20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rPr>
              <a:t>codeup</a:t>
            </a:r>
            <a:r>
              <a:rPr lang="zh-CN" altLang="en-US" sz="20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rPr>
              <a:t>（阿里云），甚至自己搭建</a:t>
            </a:r>
            <a:r>
              <a:rPr lang="zh-CN" altLang="en-US" sz="20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rPr>
              <a:t>都行。</a:t>
            </a:r>
            <a:endParaRPr lang="zh-CN" altLang="en-US" sz="20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r>
              <a:rPr lang="zh-CN" altLang="en-US" dirty="0"/>
              <a:t>实验进度</a:t>
            </a:r>
            <a:r>
              <a:rPr lang="zh-CN" altLang="en-US" dirty="0"/>
              <a:t>要求</a:t>
            </a:r>
            <a:endParaRPr lang="zh-CN" altLang="en-US" dirty="0"/>
          </a:p>
        </p:txBody>
      </p:sp>
      <p:sp>
        <p:nvSpPr>
          <p:cNvPr id="10242" name="TextBox 2"/>
          <p:cNvSpPr txBox="1"/>
          <p:nvPr/>
        </p:nvSpPr>
        <p:spPr>
          <a:xfrm>
            <a:off x="838200" y="1447800"/>
            <a:ext cx="7820025" cy="501205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lstStyle/>
          <a:p>
            <a:r>
              <a:rPr lang="zh-CN" altLang="en-US" sz="20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rPr>
              <a:t>第一次课</a:t>
            </a:r>
            <a:endParaRPr lang="zh-CN" altLang="en-US" sz="20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endParaRPr lang="zh-CN" altLang="en-US" sz="20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zh-CN" altLang="en-US" sz="20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rPr>
              <a:t>任务</a:t>
            </a:r>
            <a:r>
              <a:rPr lang="en-US" altLang="zh-CN" sz="20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r>
              <a:rPr lang="zh-CN" altLang="en-US" sz="20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rPr>
              <a:t>：小组分组、安装调试实验</a:t>
            </a:r>
            <a:r>
              <a:rPr lang="zh-CN" altLang="en-US" sz="20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rPr>
              <a:t>环境</a:t>
            </a:r>
            <a:endParaRPr lang="zh-CN" altLang="en-US" sz="20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zh-CN" altLang="en-US" sz="20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rPr>
              <a:t>任务</a:t>
            </a:r>
            <a:r>
              <a:rPr lang="en-US" altLang="zh-CN" sz="20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zh-CN" altLang="en-US" sz="20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rPr>
              <a:t>：需求分析及小组</a:t>
            </a:r>
            <a:r>
              <a:rPr lang="zh-CN" altLang="en-US" sz="20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rPr>
              <a:t>讨论</a:t>
            </a:r>
            <a:endParaRPr lang="zh-CN" altLang="en-US" sz="20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zh-CN" altLang="en-US" sz="20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rPr>
              <a:t>任务</a:t>
            </a:r>
            <a:r>
              <a:rPr lang="en-US" altLang="zh-CN" sz="20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rPr>
              <a:t>3</a:t>
            </a:r>
            <a:r>
              <a:rPr lang="zh-CN" altLang="en-US" sz="20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rPr>
              <a:t>：方案设计、小组讨论及</a:t>
            </a:r>
            <a:r>
              <a:rPr lang="zh-CN" altLang="en-US" sz="20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rPr>
              <a:t>分工</a:t>
            </a:r>
            <a:endParaRPr lang="zh-CN" altLang="en-US" sz="20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endParaRPr lang="zh-CN" altLang="en-US" sz="20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zh-CN" altLang="en-US" sz="20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rPr>
              <a:t>第二次</a:t>
            </a:r>
            <a:r>
              <a:rPr lang="zh-CN" altLang="en-US" sz="20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rPr>
              <a:t>课</a:t>
            </a:r>
            <a:endParaRPr lang="zh-CN" altLang="en-US" sz="20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zh-CN" altLang="en-US" sz="20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rPr>
              <a:t>按小组分工完成开发</a:t>
            </a:r>
            <a:r>
              <a:rPr lang="zh-CN" altLang="en-US" sz="20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rPr>
              <a:t>任务</a:t>
            </a:r>
            <a:endParaRPr lang="zh-CN" altLang="en-US" sz="20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zh-CN" altLang="en-US" sz="20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rPr>
              <a:t>查漏补缺</a:t>
            </a:r>
            <a:endParaRPr lang="zh-CN" altLang="en-US" sz="20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endParaRPr lang="zh-CN" altLang="en-US" sz="20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zh-CN" altLang="en-US" sz="20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rPr>
              <a:t>第三次课</a:t>
            </a:r>
            <a:endParaRPr lang="zh-CN" altLang="en-US" sz="20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zh-CN" altLang="en-US" sz="20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rPr>
              <a:t>分组演示、</a:t>
            </a:r>
            <a:r>
              <a:rPr lang="zh-CN" altLang="en-US" sz="20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rPr>
              <a:t>评审</a:t>
            </a:r>
            <a:endParaRPr lang="zh-CN" altLang="en-US" sz="20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endParaRPr lang="zh-CN" altLang="en-US" sz="20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endParaRPr lang="zh-CN" altLang="en-US" sz="20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endParaRPr lang="zh-CN" altLang="en-US" sz="20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r>
              <a:rPr lang="zh-CN" altLang="en-US" dirty="0"/>
              <a:t>实验指导</a:t>
            </a:r>
            <a:r>
              <a:rPr lang="en-US" altLang="zh-CN" dirty="0"/>
              <a:t>-hbase linux</a:t>
            </a:r>
            <a:r>
              <a:rPr lang="zh-CN" altLang="en-US" dirty="0"/>
              <a:t>安装要点</a:t>
            </a:r>
            <a:r>
              <a:rPr lang="en-US" altLang="zh-CN" dirty="0"/>
              <a:t>(</a:t>
            </a:r>
            <a:r>
              <a:rPr lang="zh-CN" altLang="en-US" dirty="0"/>
              <a:t>可选</a:t>
            </a:r>
            <a:r>
              <a:rPr lang="en-US" altLang="zh-CN" dirty="0"/>
              <a:t>)</a:t>
            </a:r>
            <a:endParaRPr lang="en-US" altLang="zh-CN" dirty="0"/>
          </a:p>
        </p:txBody>
      </p:sp>
      <p:sp>
        <p:nvSpPr>
          <p:cNvPr id="11266" name="TextBox 2"/>
          <p:cNvSpPr txBox="1"/>
          <p:nvPr/>
        </p:nvSpPr>
        <p:spPr>
          <a:xfrm>
            <a:off x="457200" y="1219200"/>
            <a:ext cx="815340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en-US" altLang="zh-CN" sz="1800" dirty="0">
                <a:latin typeface="Arial" panose="020B0604020202020204" pitchFamily="34" charset="0"/>
                <a:ea typeface="宋体" panose="02010600030101010101" pitchFamily="2" charset="-122"/>
              </a:rPr>
              <a:t>1.hbase</a:t>
            </a:r>
            <a:r>
              <a:rPr lang="zh-CN" altLang="en-US" sz="1800" dirty="0">
                <a:latin typeface="Arial" panose="020B0604020202020204" pitchFamily="34" charset="0"/>
                <a:ea typeface="宋体" panose="02010600030101010101" pitchFamily="2" charset="-122"/>
              </a:rPr>
              <a:t>依赖</a:t>
            </a:r>
            <a:r>
              <a:rPr lang="en-US" altLang="zh-CN" sz="1800" dirty="0">
                <a:latin typeface="Arial" panose="020B0604020202020204" pitchFamily="34" charset="0"/>
                <a:ea typeface="宋体" panose="02010600030101010101" pitchFamily="2" charset="-122"/>
              </a:rPr>
              <a:t>hadoop</a:t>
            </a:r>
            <a:r>
              <a:rPr lang="zh-CN" altLang="en-US" sz="1800" dirty="0">
                <a:latin typeface="Arial" panose="020B0604020202020204" pitchFamily="34" charset="0"/>
                <a:ea typeface="宋体" panose="02010600030101010101" pitchFamily="2" charset="-122"/>
              </a:rPr>
              <a:t>，所以要先安装启动</a:t>
            </a:r>
            <a:r>
              <a:rPr lang="en-US" altLang="zh-CN" sz="1800" dirty="0">
                <a:latin typeface="Arial" panose="020B0604020202020204" pitchFamily="34" charset="0"/>
                <a:ea typeface="宋体" panose="02010600030101010101" pitchFamily="2" charset="-122"/>
              </a:rPr>
              <a:t>hadoop</a:t>
            </a:r>
            <a:r>
              <a:rPr lang="zh-CN" altLang="en-US" sz="1800" dirty="0">
                <a:latin typeface="Arial" panose="020B0604020202020204" pitchFamily="34" charset="0"/>
                <a:ea typeface="宋体" panose="02010600030101010101" pitchFamily="2" charset="-122"/>
              </a:rPr>
              <a:t>。</a:t>
            </a:r>
            <a:r>
              <a:rPr lang="en-US" altLang="zh-CN" sz="1800" dirty="0">
                <a:latin typeface="Arial" panose="020B0604020202020204" pitchFamily="34" charset="0"/>
                <a:ea typeface="宋体" panose="02010600030101010101" pitchFamily="2" charset="-122"/>
              </a:rPr>
              <a:t>hadoop</a:t>
            </a:r>
            <a:r>
              <a:rPr lang="zh-CN" altLang="en-US" sz="1800" dirty="0">
                <a:latin typeface="Arial" panose="020B0604020202020204" pitchFamily="34" charset="0"/>
                <a:ea typeface="宋体" panose="02010600030101010101" pitchFamily="2" charset="-122"/>
              </a:rPr>
              <a:t>数据默认存储位置在</a:t>
            </a:r>
            <a:r>
              <a:rPr lang="en-US" altLang="zh-CN" sz="1800" dirty="0">
                <a:latin typeface="Arial" panose="020B0604020202020204" pitchFamily="34" charset="0"/>
                <a:ea typeface="宋体" panose="02010600030101010101" pitchFamily="2" charset="-122"/>
              </a:rPr>
              <a:t>/tmp</a:t>
            </a:r>
            <a:r>
              <a:rPr lang="zh-CN" altLang="en-US" sz="1800" dirty="0">
                <a:latin typeface="Arial" panose="020B0604020202020204" pitchFamily="34" charset="0"/>
                <a:ea typeface="宋体" panose="02010600030101010101" pitchFamily="2" charset="-122"/>
              </a:rPr>
              <a:t>目录，系统重启时可能会被自动删除，所以需要在配置里指定路径 </a:t>
            </a:r>
            <a:endParaRPr lang="zh-CN" altLang="en-US" sz="1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5565" y="2092960"/>
            <a:ext cx="5117465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/>
              <a:t> etc/hadoop/core-site.xml</a:t>
            </a:r>
            <a:endParaRPr lang="zh-CN" altLang="en-US" sz="1200"/>
          </a:p>
          <a:p>
            <a:r>
              <a:rPr lang="zh-CN" altLang="en-US" sz="1200"/>
              <a:t>&lt;configuration&gt;</a:t>
            </a:r>
            <a:endParaRPr lang="zh-CN" altLang="en-US" sz="1200"/>
          </a:p>
          <a:p>
            <a:r>
              <a:rPr lang="zh-CN" altLang="en-US" sz="1200">
                <a:solidFill>
                  <a:srgbClr val="FF0000"/>
                </a:solidFill>
              </a:rPr>
              <a:t>    &lt;property&gt;</a:t>
            </a:r>
            <a:endParaRPr lang="zh-CN" altLang="en-US" sz="1200">
              <a:solidFill>
                <a:srgbClr val="FF0000"/>
              </a:solidFill>
            </a:endParaRPr>
          </a:p>
          <a:p>
            <a:r>
              <a:rPr lang="zh-CN" altLang="en-US" sz="1200">
                <a:solidFill>
                  <a:srgbClr val="FF0000"/>
                </a:solidFill>
              </a:rPr>
              <a:t>        &lt;name&gt;hadoop.tmp.dir&lt;/name&gt;</a:t>
            </a:r>
            <a:endParaRPr lang="zh-CN" altLang="en-US" sz="1200">
              <a:solidFill>
                <a:srgbClr val="FF0000"/>
              </a:solidFill>
            </a:endParaRPr>
          </a:p>
          <a:p>
            <a:r>
              <a:rPr lang="zh-CN" altLang="en-US" sz="1200">
                <a:solidFill>
                  <a:srgbClr val="FF0000"/>
                </a:solidFill>
              </a:rPr>
              <a:t>        &lt;value&gt;file:/home/hadoop/hadoop-3.3.6/tmp&lt;/value&gt;</a:t>
            </a:r>
            <a:endParaRPr lang="zh-CN" altLang="en-US" sz="1200">
              <a:solidFill>
                <a:srgbClr val="FF0000"/>
              </a:solidFill>
            </a:endParaRPr>
          </a:p>
          <a:p>
            <a:r>
              <a:rPr lang="zh-CN" altLang="en-US" sz="1200">
                <a:solidFill>
                  <a:srgbClr val="FF0000"/>
                </a:solidFill>
              </a:rPr>
              <a:t>        &lt;description&gt;Abase for other temporary directories.&lt;/description&gt;</a:t>
            </a:r>
            <a:endParaRPr lang="zh-CN" altLang="en-US" sz="1200">
              <a:solidFill>
                <a:srgbClr val="FF0000"/>
              </a:solidFill>
            </a:endParaRPr>
          </a:p>
          <a:p>
            <a:r>
              <a:rPr lang="zh-CN" altLang="en-US" sz="1200">
                <a:solidFill>
                  <a:srgbClr val="FF0000"/>
                </a:solidFill>
              </a:rPr>
              <a:t>    &lt;/property&gt;`</a:t>
            </a:r>
            <a:endParaRPr lang="zh-CN" altLang="en-US" sz="1200">
              <a:solidFill>
                <a:srgbClr val="FF0000"/>
              </a:solidFill>
            </a:endParaRPr>
          </a:p>
          <a:p>
            <a:r>
              <a:rPr lang="zh-CN" altLang="en-US" sz="1200"/>
              <a:t>    &lt;property&gt;</a:t>
            </a:r>
            <a:endParaRPr lang="zh-CN" altLang="en-US" sz="1200"/>
          </a:p>
          <a:p>
            <a:r>
              <a:rPr lang="zh-CN" altLang="en-US" sz="1200"/>
              <a:t>        &lt;name&gt;fs.defaultFS&lt;/name&gt;</a:t>
            </a:r>
            <a:endParaRPr lang="zh-CN" altLang="en-US" sz="1200"/>
          </a:p>
          <a:p>
            <a:r>
              <a:rPr lang="zh-CN" altLang="en-US" sz="1200"/>
              <a:t>        &lt;value&gt;hdfs://localhost:9000&lt;/value&gt;</a:t>
            </a:r>
            <a:endParaRPr lang="zh-CN" altLang="en-US" sz="1200"/>
          </a:p>
          <a:p>
            <a:r>
              <a:rPr lang="zh-CN" altLang="en-US" sz="1200"/>
              <a:t>    &lt;/property&gt;</a:t>
            </a:r>
            <a:endParaRPr lang="zh-CN" altLang="en-US" sz="1200"/>
          </a:p>
          <a:p>
            <a:r>
              <a:rPr lang="zh-CN" altLang="en-US" sz="1200"/>
              <a:t>&lt;/configuration&gt;</a:t>
            </a:r>
            <a:endParaRPr lang="zh-CN" altLang="en-US" sz="1200"/>
          </a:p>
        </p:txBody>
      </p:sp>
      <p:sp>
        <p:nvSpPr>
          <p:cNvPr id="6" name="文本框 5"/>
          <p:cNvSpPr txBox="1"/>
          <p:nvPr/>
        </p:nvSpPr>
        <p:spPr>
          <a:xfrm>
            <a:off x="5104765" y="2047875"/>
            <a:ext cx="4089400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/>
              <a:t>etc/hadoop/hdfs-site.xml</a:t>
            </a:r>
            <a:endParaRPr lang="zh-CN" altLang="en-US" sz="1200"/>
          </a:p>
          <a:p>
            <a:r>
              <a:rPr lang="zh-CN" altLang="en-US" sz="1200"/>
              <a:t>&lt;configuration&gt;</a:t>
            </a:r>
            <a:endParaRPr lang="zh-CN" altLang="en-US" sz="1200"/>
          </a:p>
          <a:p>
            <a:r>
              <a:rPr lang="zh-CN" altLang="en-US" sz="1200"/>
              <a:t>    &lt;property&gt;</a:t>
            </a:r>
            <a:endParaRPr lang="zh-CN" altLang="en-US" sz="1200"/>
          </a:p>
          <a:p>
            <a:r>
              <a:rPr lang="zh-CN" altLang="en-US" sz="1200"/>
              <a:t>        &lt;name&gt;dfs.replication&lt;/name&gt;</a:t>
            </a:r>
            <a:endParaRPr lang="zh-CN" altLang="en-US" sz="1200"/>
          </a:p>
          <a:p>
            <a:r>
              <a:rPr lang="zh-CN" altLang="en-US" sz="1200"/>
              <a:t>        &lt;value&gt;1&lt;/value&gt;</a:t>
            </a:r>
            <a:endParaRPr lang="zh-CN" altLang="en-US" sz="1200"/>
          </a:p>
          <a:p>
            <a:r>
              <a:rPr lang="zh-CN" altLang="en-US" sz="1200"/>
              <a:t>    &lt;/property&gt;</a:t>
            </a:r>
            <a:endParaRPr lang="zh-CN" altLang="en-US" sz="1200"/>
          </a:p>
          <a:p>
            <a:r>
              <a:rPr lang="zh-CN" altLang="en-US" sz="1200">
                <a:solidFill>
                  <a:srgbClr val="FF0000"/>
                </a:solidFill>
              </a:rPr>
              <a:t>    &lt;property&gt;</a:t>
            </a:r>
            <a:endParaRPr lang="zh-CN" altLang="en-US" sz="1200">
              <a:solidFill>
                <a:srgbClr val="FF0000"/>
              </a:solidFill>
            </a:endParaRPr>
          </a:p>
          <a:p>
            <a:r>
              <a:rPr lang="zh-CN" altLang="en-US" sz="1200">
                <a:solidFill>
                  <a:srgbClr val="FF0000"/>
                </a:solidFill>
              </a:rPr>
              <a:t>        &lt;name&gt;dfs.namenode.name.dir&lt;/name&gt;</a:t>
            </a:r>
            <a:endParaRPr lang="zh-CN" altLang="en-US" sz="1200">
              <a:solidFill>
                <a:srgbClr val="FF0000"/>
              </a:solidFill>
            </a:endParaRPr>
          </a:p>
          <a:p>
            <a:r>
              <a:rPr lang="zh-CN" altLang="en-US" sz="1200">
                <a:solidFill>
                  <a:srgbClr val="FF0000"/>
                </a:solidFill>
              </a:rPr>
              <a:t>        &lt;value&gt;file:/usr/local/hadoop/tmp/dfs/name&lt;/value&gt;</a:t>
            </a:r>
            <a:endParaRPr lang="zh-CN" altLang="en-US" sz="1200">
              <a:solidFill>
                <a:srgbClr val="FF0000"/>
              </a:solidFill>
            </a:endParaRPr>
          </a:p>
          <a:p>
            <a:r>
              <a:rPr lang="zh-CN" altLang="en-US" sz="1200">
                <a:solidFill>
                  <a:srgbClr val="FF0000"/>
                </a:solidFill>
              </a:rPr>
              <a:t>    &lt;/property&gt;</a:t>
            </a:r>
            <a:endParaRPr lang="zh-CN" altLang="en-US" sz="1200">
              <a:solidFill>
                <a:srgbClr val="FF0000"/>
              </a:solidFill>
            </a:endParaRPr>
          </a:p>
          <a:p>
            <a:r>
              <a:rPr lang="zh-CN" altLang="en-US" sz="1200">
                <a:solidFill>
                  <a:srgbClr val="FF0000"/>
                </a:solidFill>
              </a:rPr>
              <a:t>    &lt;property&gt;</a:t>
            </a:r>
            <a:endParaRPr lang="zh-CN" altLang="en-US" sz="1200">
              <a:solidFill>
                <a:srgbClr val="FF0000"/>
              </a:solidFill>
            </a:endParaRPr>
          </a:p>
          <a:p>
            <a:r>
              <a:rPr lang="zh-CN" altLang="en-US" sz="1200">
                <a:solidFill>
                  <a:srgbClr val="FF0000"/>
                </a:solidFill>
              </a:rPr>
              <a:t>        &lt;name&gt;dfs.datanode.data.dir&lt;/name&gt;</a:t>
            </a:r>
            <a:endParaRPr lang="zh-CN" altLang="en-US" sz="1200">
              <a:solidFill>
                <a:srgbClr val="FF0000"/>
              </a:solidFill>
            </a:endParaRPr>
          </a:p>
          <a:p>
            <a:r>
              <a:rPr lang="zh-CN" altLang="en-US" sz="1200">
                <a:solidFill>
                  <a:srgbClr val="FF0000"/>
                </a:solidFill>
              </a:rPr>
              <a:t>        &lt;value&gt;file:/usr/local/hadoop/tmp/dfs/data&lt;/value&gt;</a:t>
            </a:r>
            <a:endParaRPr lang="zh-CN" altLang="en-US" sz="1200">
              <a:solidFill>
                <a:srgbClr val="FF0000"/>
              </a:solidFill>
            </a:endParaRPr>
          </a:p>
          <a:p>
            <a:r>
              <a:rPr lang="zh-CN" altLang="en-US" sz="1200">
                <a:solidFill>
                  <a:srgbClr val="FF0000"/>
                </a:solidFill>
              </a:rPr>
              <a:t>    &lt;/property&gt;</a:t>
            </a:r>
            <a:endParaRPr lang="zh-CN" altLang="en-US" sz="1200">
              <a:solidFill>
                <a:srgbClr val="FF0000"/>
              </a:solidFill>
            </a:endParaRPr>
          </a:p>
          <a:p>
            <a:r>
              <a:rPr lang="zh-CN" altLang="en-US" sz="1200"/>
              <a:t>&lt;/configuration&gt;</a:t>
            </a:r>
            <a:endParaRPr lang="zh-CN" altLang="en-US" sz="1200"/>
          </a:p>
        </p:txBody>
      </p:sp>
      <p:sp>
        <p:nvSpPr>
          <p:cNvPr id="7" name="TextBox 2"/>
          <p:cNvSpPr txBox="1"/>
          <p:nvPr/>
        </p:nvSpPr>
        <p:spPr>
          <a:xfrm>
            <a:off x="381635" y="5104765"/>
            <a:ext cx="8153400" cy="1014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en-US" altLang="zh-CN" sz="1800" dirty="0">
                <a:latin typeface="Arial" panose="020B0604020202020204" pitchFamily="34" charset="0"/>
                <a:ea typeface="宋体" panose="02010600030101010101" pitchFamily="2" charset="-122"/>
              </a:rPr>
              <a:t>2.hbase</a:t>
            </a:r>
            <a:r>
              <a:rPr lang="zh-CN" altLang="en-US" sz="1800" dirty="0">
                <a:latin typeface="Arial" panose="020B0604020202020204" pitchFamily="34" charset="0"/>
                <a:ea typeface="宋体" panose="02010600030101010101" pitchFamily="2" charset="-122"/>
              </a:rPr>
              <a:t>和</a:t>
            </a:r>
            <a:r>
              <a:rPr lang="en-US" altLang="zh-CN" sz="1800" dirty="0">
                <a:latin typeface="Arial" panose="020B0604020202020204" pitchFamily="34" charset="0"/>
                <a:ea typeface="宋体" panose="02010600030101010101" pitchFamily="2" charset="-122"/>
              </a:rPr>
              <a:t>hadoop</a:t>
            </a:r>
            <a:r>
              <a:rPr lang="zh-CN" altLang="en-US" sz="1800" dirty="0">
                <a:latin typeface="Arial" panose="020B0604020202020204" pitchFamily="34" charset="0"/>
                <a:ea typeface="宋体" panose="02010600030101010101" pitchFamily="2" charset="-122"/>
              </a:rPr>
              <a:t>可能存在包冲突，修改</a:t>
            </a:r>
            <a:r>
              <a:rPr lang="en-US" altLang="zh-CN" sz="1800" dirty="0">
                <a:latin typeface="Arial" panose="020B0604020202020204" pitchFamily="34" charset="0"/>
                <a:ea typeface="宋体" panose="02010600030101010101" pitchFamily="2" charset="-122"/>
              </a:rPr>
              <a:t>hbase</a:t>
            </a:r>
            <a:r>
              <a:rPr lang="zh-CN" altLang="en-US" sz="1800" dirty="0">
                <a:latin typeface="Arial" panose="020B0604020202020204" pitchFamily="34" charset="0"/>
                <a:ea typeface="宋体" panose="02010600030101010101" pitchFamily="2" charset="-122"/>
              </a:rPr>
              <a:t>配置</a:t>
            </a:r>
            <a:r>
              <a:rPr lang="zh-CN" altLang="en-US" sz="1800" dirty="0">
                <a:latin typeface="Arial" panose="020B0604020202020204" pitchFamily="34" charset="0"/>
                <a:ea typeface="宋体" panose="02010600030101010101" pitchFamily="2" charset="-122"/>
              </a:rPr>
              <a:t>文件</a:t>
            </a:r>
            <a:endParaRPr lang="zh-CN" altLang="en-US" sz="18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zh-CN" altLang="en-US" sz="1400" dirty="0">
                <a:latin typeface="Arial" panose="020B0604020202020204" pitchFamily="34" charset="0"/>
                <a:ea typeface="宋体" panose="02010600030101010101" pitchFamily="2" charset="-122"/>
              </a:rPr>
              <a:t>conf/hbase-env.sh</a:t>
            </a:r>
            <a:endParaRPr lang="zh-CN" altLang="en-US" sz="14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zh-CN" altLang="en-US" sz="1400" dirty="0">
                <a:latin typeface="Arial" panose="020B0604020202020204" pitchFamily="34" charset="0"/>
                <a:ea typeface="宋体" panose="02010600030101010101" pitchFamily="2" charset="-122"/>
              </a:rPr>
              <a:t>export JAVA_HOME=/usr/lib/jvm/java-1.8.0-openjdk-1.8.0.392.b08-2.el7_9.x86_64/jre</a:t>
            </a:r>
            <a:endParaRPr lang="zh-CN" altLang="en-US" sz="14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zh-CN" altLang="en-US" sz="1400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export HBASE_DISABLE_HADOOP_CLASSPATH_LOOKUP="true"</a:t>
            </a:r>
            <a:endParaRPr lang="zh-CN" altLang="en-US" sz="1400" dirty="0">
              <a:solidFill>
                <a:srgbClr val="FF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r>
              <a:rPr lang="zh-CN" altLang="en-US" dirty="0"/>
              <a:t>实验指导</a:t>
            </a:r>
            <a:r>
              <a:rPr lang="en-US" altLang="zh-CN" dirty="0"/>
              <a:t>-hbase</a:t>
            </a:r>
            <a:r>
              <a:rPr lang="zh-CN" altLang="en-US" dirty="0"/>
              <a:t>免安装</a:t>
            </a:r>
            <a:r>
              <a:rPr lang="zh-CN" altLang="en-US" dirty="0"/>
              <a:t>加载</a:t>
            </a:r>
            <a:endParaRPr lang="zh-CN" altLang="en-US" dirty="0"/>
          </a:p>
        </p:txBody>
      </p:sp>
      <p:sp>
        <p:nvSpPr>
          <p:cNvPr id="11266" name="TextBox 2"/>
          <p:cNvSpPr txBox="1"/>
          <p:nvPr/>
        </p:nvSpPr>
        <p:spPr>
          <a:xfrm>
            <a:off x="1061720" y="1748155"/>
            <a:ext cx="6634480" cy="347662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1.</a:t>
            </a:r>
            <a:r>
              <a:rPr lang="zh-CN" altLang="en-US" sz="2000" dirty="0">
                <a:latin typeface="Arial" panose="020B0604020202020204" pitchFamily="34" charset="0"/>
                <a:ea typeface="宋体" panose="02010600030101010101" pitchFamily="2" charset="-122"/>
              </a:rPr>
              <a:t>自行安装</a:t>
            </a: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virtualbox</a:t>
            </a:r>
            <a:r>
              <a:rPr lang="zh-CN" altLang="en-US" sz="2000" dirty="0">
                <a:latin typeface="Arial" panose="020B0604020202020204" pitchFamily="34" charset="0"/>
                <a:ea typeface="宋体" panose="02010600030101010101" pitchFamily="2" charset="-122"/>
              </a:rPr>
              <a:t>虚拟机</a:t>
            </a:r>
            <a:endParaRPr lang="zh-CN" altLang="en-US" sz="20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endParaRPr lang="zh-CN" altLang="en-US" sz="20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2.</a:t>
            </a:r>
            <a:r>
              <a:rPr lang="zh-CN" altLang="en-US" sz="2000" dirty="0">
                <a:latin typeface="Arial" panose="020B0604020202020204" pitchFamily="34" charset="0"/>
                <a:ea typeface="宋体" panose="02010600030101010101" pitchFamily="2" charset="-122"/>
              </a:rPr>
              <a:t>下载镜像</a:t>
            </a:r>
            <a:r>
              <a:rPr lang="zh-CN" altLang="en-US" sz="2000" dirty="0">
                <a:latin typeface="Arial" panose="020B0604020202020204" pitchFamily="34" charset="0"/>
                <a:ea typeface="宋体" panose="02010600030101010101" pitchFamily="2" charset="-122"/>
              </a:rPr>
              <a:t>文件</a:t>
            </a:r>
            <a:endParaRPr lang="zh-CN" altLang="en-US" sz="20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 https://pan.baidu.com/s/11G87vy51gjhQgeSc2FP_aQ </a:t>
            </a:r>
            <a:r>
              <a:rPr lang="zh-CN" altLang="en-US" sz="2000" dirty="0">
                <a:latin typeface="Arial" panose="020B0604020202020204" pitchFamily="34" charset="0"/>
                <a:ea typeface="宋体" panose="02010600030101010101" pitchFamily="2" charset="-122"/>
              </a:rPr>
              <a:t>提取码</a:t>
            </a: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: tykt</a:t>
            </a:r>
            <a:endParaRPr lang="en-US" altLang="zh-CN" sz="20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endParaRPr lang="zh-CN" altLang="en-US" sz="20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sym typeface="+mn-ea"/>
              </a:rPr>
              <a:t>3.</a:t>
            </a:r>
            <a:r>
              <a:rPr lang="zh-CN" altLang="en-US" sz="2000">
                <a:sym typeface="+mn-ea"/>
              </a:rPr>
              <a:t>在</a:t>
            </a:r>
            <a:r>
              <a:rPr lang="en-US" altLang="zh-CN" sz="2000">
                <a:sym typeface="+mn-ea"/>
              </a:rPr>
              <a:t>virtualbox</a:t>
            </a:r>
            <a:r>
              <a:rPr lang="zh-CN" altLang="en-US" sz="2000">
                <a:sym typeface="+mn-ea"/>
              </a:rPr>
              <a:t>中导入镜像文件</a:t>
            </a:r>
            <a:endParaRPr lang="zh-CN" altLang="en-US" sz="2000">
              <a:sym typeface="+mn-ea"/>
            </a:endParaRPr>
          </a:p>
          <a:p>
            <a:r>
              <a:rPr lang="zh-CN" altLang="en-US" sz="2000">
                <a:sym typeface="+mn-ea"/>
              </a:rPr>
              <a:t>参见镜像导入说明</a:t>
            </a:r>
            <a:r>
              <a:rPr lang="zh-CN" altLang="en-US" sz="2000">
                <a:sym typeface="+mn-ea"/>
              </a:rPr>
              <a:t>书</a:t>
            </a:r>
            <a:endParaRPr lang="zh-CN" altLang="en-US" sz="2000"/>
          </a:p>
          <a:p>
            <a:endParaRPr lang="zh-CN" altLang="en-US" sz="20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4.</a:t>
            </a:r>
            <a:r>
              <a:rPr lang="zh-CN" altLang="en-US" sz="2000" dirty="0">
                <a:latin typeface="Arial" panose="020B0604020202020204" pitchFamily="34" charset="0"/>
                <a:ea typeface="宋体" panose="02010600030101010101" pitchFamily="2" charset="-122"/>
              </a:rPr>
              <a:t>启动虚拟机中的</a:t>
            </a: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linux</a:t>
            </a:r>
            <a:endParaRPr lang="zh-CN" altLang="en-US" sz="20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endParaRPr lang="zh-CN" altLang="en-US" sz="20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2" name="对象 1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4038600" y="5410200"/>
          <a:ext cx="97155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" showAsIcon="1" r:id="rId1" imgW="971550" imgH="800100" progId="Package">
                  <p:embed/>
                </p:oleObj>
              </mc:Choice>
              <mc:Fallback>
                <p:oleObj name="" showAsIcon="1" r:id="rId1" imgW="971550" imgH="800100" progId="Package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038600" y="5410200"/>
                        <a:ext cx="971550" cy="800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r>
              <a:rPr lang="zh-CN" altLang="en-US" dirty="0">
                <a:sym typeface="+mn-ea"/>
              </a:rPr>
              <a:t>实验指导</a:t>
            </a:r>
            <a:r>
              <a:rPr lang="en-US" altLang="zh-CN" dirty="0">
                <a:sym typeface="+mn-ea"/>
              </a:rPr>
              <a:t>-hbase</a:t>
            </a:r>
            <a:r>
              <a:rPr lang="zh-CN" altLang="en-US" dirty="0">
                <a:sym typeface="+mn-ea"/>
              </a:rPr>
              <a:t>启动</a:t>
            </a:r>
            <a:endParaRPr lang="zh-CN" altLang="en-US" dirty="0"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066800" y="1279525"/>
            <a:ext cx="7119620" cy="260794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altLang="zh-CN"/>
              <a:t>1.</a:t>
            </a:r>
            <a:r>
              <a:rPr lang="zh-CN" altLang="en-US"/>
              <a:t>启动</a:t>
            </a:r>
            <a:r>
              <a:rPr lang="en-US" altLang="zh-CN"/>
              <a:t>hadoop</a:t>
            </a:r>
            <a:endParaRPr lang="en-US" altLang="zh-CN"/>
          </a:p>
          <a:p>
            <a:r>
              <a:rPr lang="zh-CN" altLang="en-US"/>
              <a:t>/home/hadoop/hadoop-3.3.6</a:t>
            </a:r>
            <a:r>
              <a:rPr lang="en-US" altLang="zh-CN"/>
              <a:t>/sbin/start-dfs.sh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2.</a:t>
            </a:r>
            <a:r>
              <a:rPr lang="zh-CN" altLang="en-US"/>
              <a:t>启动</a:t>
            </a:r>
            <a:r>
              <a:rPr lang="en-US" altLang="zh-CN"/>
              <a:t>hbase</a:t>
            </a:r>
            <a:endParaRPr lang="en-US" altLang="zh-CN"/>
          </a:p>
          <a:p>
            <a:r>
              <a:rPr lang="en-US" altLang="zh-CN"/>
              <a:t>/home/hadoop/hbase-2.5.7-hadoop3/bin/start-hbase.sh</a:t>
            </a:r>
            <a:endParaRPr lang="en-US" altLang="zh-CN"/>
          </a:p>
          <a:p>
            <a:endParaRPr lang="zh-CN" altLang="en-US"/>
          </a:p>
          <a:p>
            <a:r>
              <a:rPr lang="en-US" altLang="zh-CN"/>
              <a:t>3.</a:t>
            </a:r>
            <a:r>
              <a:rPr lang="zh-CN" altLang="en-US"/>
              <a:t>启动</a:t>
            </a:r>
            <a:r>
              <a:rPr lang="en-US" altLang="zh-CN"/>
              <a:t>hbase shell</a:t>
            </a:r>
            <a:endParaRPr lang="en-US" altLang="zh-CN"/>
          </a:p>
          <a:p>
            <a:r>
              <a:rPr lang="en-US" altLang="zh-CN"/>
              <a:t> </a:t>
            </a:r>
            <a:r>
              <a:rPr lang="en-US" altLang="zh-CN">
                <a:sym typeface="+mn-ea"/>
              </a:rPr>
              <a:t>/home/hadoop/hbase-2.5.7-hadoop3/</a:t>
            </a:r>
            <a:r>
              <a:rPr lang="en-US" altLang="zh-CN"/>
              <a:t>bin/hbase shell</a:t>
            </a:r>
            <a:endParaRPr lang="en-US" altLang="zh-CN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3035" y="3810000"/>
            <a:ext cx="8999855" cy="157099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r>
              <a:rPr lang="zh-CN" altLang="en-US" dirty="0">
                <a:sym typeface="+mn-ea"/>
              </a:rPr>
              <a:t>实验指导</a:t>
            </a:r>
            <a:r>
              <a:rPr lang="en-US" altLang="zh-CN" dirty="0">
                <a:sym typeface="+mn-ea"/>
              </a:rPr>
              <a:t>-hbase </a:t>
            </a:r>
            <a:r>
              <a:rPr lang="zh-CN" altLang="en-US" dirty="0">
                <a:sym typeface="+mn-ea"/>
              </a:rPr>
              <a:t>表</a:t>
            </a:r>
            <a:r>
              <a:rPr lang="zh-CN" altLang="en-US" dirty="0">
                <a:sym typeface="+mn-ea"/>
              </a:rPr>
              <a:t>操作</a:t>
            </a:r>
            <a:endParaRPr lang="zh-CN" altLang="en-US" dirty="0"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066800" y="1279525"/>
            <a:ext cx="7119620" cy="42354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t>用create命令创建表</a:t>
            </a:r>
            <a:r>
              <a:rPr lang="zh-CN"/>
              <a:t>，表中会有一个系统默认的属性作为行键，无需自行创建，默认为put命令操作中表名后第一个数据。</a:t>
            </a:r>
            <a:endParaRPr lang="zh-CN"/>
          </a:p>
          <a:p>
            <a:r>
              <a:t>create 'student','Sname','Ssex','Sage','Sdept','course'</a:t>
            </a:r>
          </a:p>
          <a:p/>
        </p:txBody>
      </p:sp>
      <p:sp>
        <p:nvSpPr>
          <p:cNvPr id="5" name="文本框 4"/>
          <p:cNvSpPr txBox="1"/>
          <p:nvPr/>
        </p:nvSpPr>
        <p:spPr>
          <a:xfrm>
            <a:off x="1143000" y="3133725"/>
            <a:ext cx="647065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通过describe命令查看表基本</a:t>
            </a:r>
            <a:r>
              <a:rPr lang="zh-CN" altLang="en-US"/>
              <a:t>信息：</a:t>
            </a:r>
            <a:endParaRPr lang="zh-CN" altLang="en-US"/>
          </a:p>
          <a:p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2209800"/>
            <a:ext cx="7632700" cy="89090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3429000"/>
            <a:ext cx="8504555" cy="338010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r>
              <a:rPr lang="zh-CN" altLang="en-US" dirty="0">
                <a:sym typeface="+mn-ea"/>
              </a:rPr>
              <a:t>实验指导</a:t>
            </a:r>
            <a:r>
              <a:rPr lang="en-US" altLang="zh-CN" dirty="0">
                <a:sym typeface="+mn-ea"/>
              </a:rPr>
              <a:t>-hbase </a:t>
            </a:r>
            <a:r>
              <a:rPr lang="zh-CN" altLang="en-US" dirty="0">
                <a:sym typeface="+mn-ea"/>
              </a:rPr>
              <a:t>表</a:t>
            </a:r>
            <a:r>
              <a:rPr lang="zh-CN" altLang="en-US" dirty="0">
                <a:sym typeface="+mn-ea"/>
              </a:rPr>
              <a:t>操作</a:t>
            </a:r>
            <a:endParaRPr lang="zh-CN" altLang="en-US" dirty="0"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23545" y="1279525"/>
            <a:ext cx="8064500" cy="237998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t>用put命令添加数据，一次只能为一个单元格添加一个数据，所以直接用shell命令插入数据效率很低，在实际应用中，一般都是利用编程操作数据。</a:t>
            </a:r>
          </a:p>
          <a:p/>
          <a:p>
            <a:r>
              <a:t>put 'student','95001','Sname','LiYing'</a:t>
            </a:r>
            <a:r>
              <a:rPr lang="en-US"/>
              <a:t> </a:t>
            </a:r>
            <a:r>
              <a:t>时，即为student表添加了学号为95001，名字为LiYing的一行数据，其行键为95001</a:t>
            </a:r>
          </a:p>
          <a:p/>
          <a:p>
            <a:r>
              <a:t>有两个用于查看数据的命令：1. get命令，用于查看表的某一行数据；2. scan命令用于查看某个表的全部数据</a:t>
            </a:r>
          </a:p>
          <a:p>
            <a:endParaRPr lang="zh-CN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35" y="3657600"/>
            <a:ext cx="9062085" cy="279527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r>
              <a:rPr lang="zh-CN" altLang="en-US" dirty="0">
                <a:sym typeface="+mn-ea"/>
              </a:rPr>
              <a:t>实验指导</a:t>
            </a:r>
            <a:r>
              <a:rPr lang="en-US" altLang="zh-CN" dirty="0">
                <a:sym typeface="+mn-ea"/>
              </a:rPr>
              <a:t>-hbase </a:t>
            </a:r>
            <a:r>
              <a:rPr lang="zh-CN" altLang="en-US" dirty="0">
                <a:sym typeface="+mn-ea"/>
              </a:rPr>
              <a:t>表</a:t>
            </a:r>
            <a:r>
              <a:rPr lang="zh-CN" altLang="en-US" dirty="0">
                <a:sym typeface="+mn-ea"/>
              </a:rPr>
              <a:t>操作</a:t>
            </a:r>
            <a:endParaRPr lang="zh-CN" altLang="en-US" dirty="0"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23545" y="1279525"/>
            <a:ext cx="8064500" cy="18161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t>用delete以及deleteall命令进行删除数据操作，它们的区别是：1. delete用于删除一个数据，是put的反向操作；2. deleteall操作用于删除一行数据。</a:t>
            </a:r>
          </a:p>
          <a:p/>
          <a:p>
            <a:r>
              <a:t>delete 'student','95001','Ssex</a:t>
            </a:r>
            <a:r>
              <a:rPr lang="en-US"/>
              <a:t>:</a:t>
            </a:r>
            <a:r>
              <a:t>'</a:t>
            </a:r>
          </a:p>
          <a:p/>
          <a:p>
            <a:r>
              <a:t>deleteall 'student','95001'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00" y="3276600"/>
            <a:ext cx="8555990" cy="27076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r>
              <a:rPr lang="zh-CN" altLang="en-US" dirty="0">
                <a:sym typeface="+mn-ea"/>
              </a:rPr>
              <a:t>实验指导</a:t>
            </a:r>
            <a:r>
              <a:rPr lang="en-US" altLang="zh-CN" dirty="0">
                <a:sym typeface="+mn-ea"/>
              </a:rPr>
              <a:t>-hbase </a:t>
            </a:r>
            <a:r>
              <a:rPr lang="zh-CN" altLang="en-US" dirty="0">
                <a:sym typeface="+mn-ea"/>
              </a:rPr>
              <a:t>编程</a:t>
            </a:r>
            <a:endParaRPr lang="zh-CN" altLang="en-US" dirty="0"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23545" y="1279525"/>
            <a:ext cx="8064500" cy="77152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b="1"/>
              <a:t>删除表</a:t>
            </a:r>
            <a:endParaRPr b="1"/>
          </a:p>
          <a:p>
            <a:r>
              <a:t>删除表有两步，第一步先让该表不可用，第二步删除表</a:t>
            </a:r>
          </a:p>
          <a:p/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3400" y="2133600"/>
            <a:ext cx="6035675" cy="230187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457200" y="5010785"/>
            <a:ext cx="48971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退出</a:t>
            </a:r>
            <a:r>
              <a:rPr lang="en-US" altLang="zh-CN" b="1"/>
              <a:t>hbase shell</a:t>
            </a:r>
            <a:r>
              <a:rPr lang="zh-CN" altLang="en-US"/>
              <a:t>，</a:t>
            </a:r>
            <a:r>
              <a:rPr lang="en-US" altLang="zh-CN"/>
              <a:t>quit </a:t>
            </a:r>
            <a:r>
              <a:rPr lang="zh-CN" altLang="en-US"/>
              <a:t>命令</a:t>
            </a:r>
            <a:endParaRPr lang="zh-CN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r>
              <a:rPr lang="zh-CN" altLang="en-US" dirty="0">
                <a:sym typeface="+mn-ea"/>
              </a:rPr>
              <a:t>实验指导</a:t>
            </a:r>
            <a:r>
              <a:rPr lang="en-US" altLang="zh-CN" dirty="0">
                <a:sym typeface="+mn-ea"/>
              </a:rPr>
              <a:t>-hbase </a:t>
            </a:r>
            <a:r>
              <a:rPr lang="zh-CN" altLang="en-US" dirty="0">
                <a:sym typeface="+mn-ea"/>
              </a:rPr>
              <a:t>编程</a:t>
            </a:r>
            <a:endParaRPr lang="zh-CN" altLang="en-US" dirty="0"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57200" y="1279525"/>
            <a:ext cx="8064500" cy="18161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sz="24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maven </a:t>
            </a:r>
            <a:r>
              <a:rPr lang="zh-CN" altLang="en-US" sz="24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系统配置（</a:t>
            </a:r>
            <a:r>
              <a:rPr lang="zh-CN" altLang="en-US" sz="24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可选）</a:t>
            </a:r>
            <a:endParaRPr lang="zh-CN" altLang="en-US" sz="24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zh-CN" altLang="en-US"/>
              <a:t>C:\Users\</a:t>
            </a:r>
            <a:r>
              <a:rPr lang="en-US" altLang="zh-CN"/>
              <a:t>&lt;</a:t>
            </a:r>
            <a:r>
              <a:rPr lang="zh-CN" altLang="en-US"/>
              <a:t>用户</a:t>
            </a:r>
            <a:r>
              <a:rPr lang="en-US" altLang="zh-CN"/>
              <a:t>&gt;</a:t>
            </a:r>
            <a:r>
              <a:rPr lang="zh-CN" altLang="en-US"/>
              <a:t>\.m2</a:t>
            </a:r>
            <a:r>
              <a:rPr lang="en-US" altLang="zh-CN"/>
              <a:t>\settings.xml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&lt;?xml version="1.0" encoding="UTF-8"?&gt;</a:t>
            </a:r>
            <a:endParaRPr lang="en-US" altLang="zh-CN"/>
          </a:p>
          <a:p>
            <a:r>
              <a:rPr lang="en-US" altLang="zh-CN"/>
              <a:t>&lt;settings xmlns="http://maven.apache.org/SETTINGS/1.0.0"</a:t>
            </a:r>
            <a:endParaRPr lang="en-US" altLang="zh-CN"/>
          </a:p>
          <a:p>
            <a:r>
              <a:rPr lang="en-US" altLang="zh-CN"/>
              <a:t>          xmlns:xsi="http://www.w3.org/2001/XMLSchema-instance"</a:t>
            </a:r>
            <a:endParaRPr lang="en-US" altLang="zh-CN"/>
          </a:p>
          <a:p>
            <a:r>
              <a:rPr lang="en-US" altLang="zh-CN"/>
              <a:t>          xsi:schemaLocation="http://maven.apache.org/SETTINGS/1.0.0 http://maven.apache.org/xsd/settings-1.0.0.xsd"&gt;</a:t>
            </a:r>
            <a:endParaRPr lang="en-US" altLang="zh-CN"/>
          </a:p>
          <a:p>
            <a:r>
              <a:rPr lang="en-US" altLang="zh-CN"/>
              <a:t>  &lt;mirrors&gt;</a:t>
            </a:r>
            <a:endParaRPr lang="en-US" altLang="zh-CN"/>
          </a:p>
          <a:p>
            <a:r>
              <a:rPr lang="en-US" altLang="zh-CN"/>
              <a:t>    &lt;mirror&gt;</a:t>
            </a:r>
            <a:endParaRPr lang="en-US" altLang="zh-CN"/>
          </a:p>
          <a:p>
            <a:r>
              <a:rPr lang="en-US" altLang="zh-CN"/>
              <a:t>      &lt;id&gt;huaweicloud&lt;/id&gt;</a:t>
            </a:r>
            <a:endParaRPr lang="en-US" altLang="zh-CN"/>
          </a:p>
          <a:p>
            <a:r>
              <a:rPr lang="en-US" altLang="zh-CN"/>
              <a:t>      &lt;mirrorOf&gt;*&lt;/mirrorOf&gt;</a:t>
            </a:r>
            <a:endParaRPr lang="en-US" altLang="zh-CN"/>
          </a:p>
          <a:p>
            <a:r>
              <a:rPr lang="en-US" altLang="zh-CN"/>
              <a:t>      &lt;url&gt;https://mirrors.huaweicloud.com/repository/maven/&lt;/url&gt;</a:t>
            </a:r>
            <a:endParaRPr lang="en-US" altLang="zh-CN"/>
          </a:p>
          <a:p>
            <a:r>
              <a:rPr lang="en-US" altLang="zh-CN"/>
              <a:t>    &lt;/mirror&gt;</a:t>
            </a:r>
            <a:endParaRPr lang="en-US" altLang="zh-CN"/>
          </a:p>
          <a:p>
            <a:r>
              <a:rPr lang="en-US" altLang="zh-CN"/>
              <a:t>  &lt;/mirrors&gt;</a:t>
            </a:r>
            <a:endParaRPr lang="en-US" altLang="zh-CN"/>
          </a:p>
          <a:p>
            <a:r>
              <a:rPr lang="en-US" altLang="zh-CN"/>
              <a:t>&lt;/settings&gt;</a:t>
            </a:r>
            <a:endParaRPr lang="en-US" altLang="zh-CN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r>
              <a:rPr lang="zh-CN" altLang="en-US" dirty="0">
                <a:sym typeface="+mn-ea"/>
              </a:rPr>
              <a:t>实验指导</a:t>
            </a:r>
            <a:r>
              <a:rPr lang="en-US" altLang="zh-CN" dirty="0">
                <a:sym typeface="+mn-ea"/>
              </a:rPr>
              <a:t>-hbase </a:t>
            </a:r>
            <a:r>
              <a:rPr lang="zh-CN" altLang="en-US" dirty="0">
                <a:sym typeface="+mn-ea"/>
              </a:rPr>
              <a:t>编程</a:t>
            </a:r>
            <a:endParaRPr lang="zh-CN" altLang="en-US" dirty="0"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57200" y="1279525"/>
            <a:ext cx="8064500" cy="63817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24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创建</a:t>
            </a:r>
            <a:r>
              <a:rPr lang="en-US" altLang="zh-CN" sz="24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maven</a:t>
            </a:r>
            <a:r>
              <a:rPr lang="zh-CN" altLang="en-US" sz="24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项目</a:t>
            </a:r>
            <a:endParaRPr lang="zh-CN" altLang="en-US" sz="24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5000" y="2209800"/>
            <a:ext cx="5714365" cy="446849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r>
              <a:rPr lang="zh-CN" altLang="en-US" dirty="0">
                <a:sym typeface="+mn-ea"/>
              </a:rPr>
              <a:t>实验指导</a:t>
            </a:r>
            <a:r>
              <a:rPr lang="en-US" altLang="zh-CN" dirty="0">
                <a:sym typeface="+mn-ea"/>
              </a:rPr>
              <a:t>-hbase </a:t>
            </a:r>
            <a:r>
              <a:rPr lang="zh-CN" altLang="en-US" dirty="0">
                <a:sym typeface="+mn-ea"/>
              </a:rPr>
              <a:t>编程</a:t>
            </a:r>
            <a:endParaRPr lang="zh-CN" altLang="en-US" dirty="0"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57200" y="1279525"/>
            <a:ext cx="8064500" cy="63817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24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设置项目</a:t>
            </a:r>
            <a:r>
              <a:rPr lang="zh-CN" altLang="en-US" sz="24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依赖</a:t>
            </a:r>
            <a:endParaRPr lang="zh-CN" altLang="en-US" sz="24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3400" y="1828800"/>
            <a:ext cx="8138160" cy="482028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r>
              <a:rPr lang="zh-CN" altLang="en-US" dirty="0">
                <a:sym typeface="+mn-ea"/>
              </a:rPr>
              <a:t>实验指导</a:t>
            </a:r>
            <a:r>
              <a:rPr lang="en-US" altLang="zh-CN" dirty="0">
                <a:sym typeface="+mn-ea"/>
              </a:rPr>
              <a:t>-hbase </a:t>
            </a:r>
            <a:r>
              <a:rPr lang="zh-CN" altLang="en-US" dirty="0">
                <a:sym typeface="+mn-ea"/>
              </a:rPr>
              <a:t>编程</a:t>
            </a:r>
            <a:endParaRPr lang="zh-CN" altLang="en-US" dirty="0"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57200" y="1279525"/>
            <a:ext cx="8064500" cy="63817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24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设置项目</a:t>
            </a:r>
            <a:r>
              <a:rPr lang="zh-CN" altLang="en-US" sz="24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依赖</a:t>
            </a:r>
            <a:endParaRPr lang="zh-CN" altLang="en-US" sz="24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057400" y="1752600"/>
            <a:ext cx="4572000" cy="47078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200"/>
              <a:t>&lt;?xml version="1.0" encoding="UTF-8"?&gt;</a:t>
            </a:r>
            <a:endParaRPr lang="zh-CN" altLang="en-US" sz="1200"/>
          </a:p>
          <a:p>
            <a:r>
              <a:rPr lang="zh-CN" altLang="en-US" sz="1200"/>
              <a:t>&lt;project xmlns="http://maven.apache.org/POM/4.0.0"</a:t>
            </a:r>
            <a:endParaRPr lang="zh-CN" altLang="en-US" sz="1200"/>
          </a:p>
          <a:p>
            <a:r>
              <a:rPr lang="zh-CN" altLang="en-US" sz="1200"/>
              <a:t>         xmlns:xsi="http://www.w3.org/2001/XMLSchema-instance"</a:t>
            </a:r>
            <a:endParaRPr lang="zh-CN" altLang="en-US" sz="1200"/>
          </a:p>
          <a:p>
            <a:r>
              <a:rPr lang="zh-CN" altLang="en-US" sz="1200"/>
              <a:t>         xsi:schemaLocation="http://maven.apache.org/POM/4.0.0 http://maven.apache.org/xsd/maven-4.0.0.xsd"&gt;</a:t>
            </a:r>
            <a:endParaRPr lang="zh-CN" altLang="en-US" sz="1200"/>
          </a:p>
          <a:p>
            <a:r>
              <a:rPr lang="zh-CN" altLang="en-US" sz="1200"/>
              <a:t>    &lt;modelVersion&gt;4.0.0&lt;/modelVersion&gt;</a:t>
            </a:r>
            <a:endParaRPr lang="zh-CN" altLang="en-US" sz="1200"/>
          </a:p>
          <a:p>
            <a:endParaRPr lang="zh-CN" altLang="en-US" sz="1200"/>
          </a:p>
          <a:p>
            <a:r>
              <a:rPr lang="zh-CN" altLang="en-US" sz="1200"/>
              <a:t>    &lt;groupId&gt;org.example&lt;/groupId&gt;</a:t>
            </a:r>
            <a:endParaRPr lang="zh-CN" altLang="en-US" sz="1200"/>
          </a:p>
          <a:p>
            <a:r>
              <a:rPr lang="zh-CN" altLang="en-US" sz="1200"/>
              <a:t>    &lt;artifactId&gt;hbasetest&lt;/artifactId&gt;</a:t>
            </a:r>
            <a:endParaRPr lang="zh-CN" altLang="en-US" sz="1200"/>
          </a:p>
          <a:p>
            <a:r>
              <a:rPr lang="zh-CN" altLang="en-US" sz="1200"/>
              <a:t>    &lt;version&gt;1.0-SNAPSHOT&lt;/version&gt;</a:t>
            </a:r>
            <a:endParaRPr lang="zh-CN" altLang="en-US" sz="1200"/>
          </a:p>
          <a:p>
            <a:endParaRPr lang="zh-CN" altLang="en-US" sz="1200"/>
          </a:p>
          <a:p>
            <a:r>
              <a:rPr lang="zh-CN" altLang="en-US" sz="1200"/>
              <a:t>    &lt;properties&gt;</a:t>
            </a:r>
            <a:endParaRPr lang="zh-CN" altLang="en-US" sz="1200"/>
          </a:p>
          <a:p>
            <a:r>
              <a:rPr lang="zh-CN" altLang="en-US" sz="1200"/>
              <a:t>        &lt;maven.compiler.source&gt;17&lt;/maven.compiler.source&gt;</a:t>
            </a:r>
            <a:endParaRPr lang="zh-CN" altLang="en-US" sz="1200"/>
          </a:p>
          <a:p>
            <a:r>
              <a:rPr lang="zh-CN" altLang="en-US" sz="1200"/>
              <a:t>        &lt;maven.compiler.target&gt;17&lt;/maven.compiler.target&gt;</a:t>
            </a:r>
            <a:endParaRPr lang="zh-CN" altLang="en-US" sz="1200"/>
          </a:p>
          <a:p>
            <a:r>
              <a:rPr lang="zh-CN" altLang="en-US" sz="1200"/>
              <a:t>        &lt;project.build.sourceEncoding&gt;UTF-8&lt;/project.build.sourceEncoding&gt;</a:t>
            </a:r>
            <a:endParaRPr lang="zh-CN" altLang="en-US" sz="1200"/>
          </a:p>
          <a:p>
            <a:r>
              <a:rPr lang="zh-CN" altLang="en-US" sz="1200"/>
              <a:t>    &lt;/properties&gt;</a:t>
            </a:r>
            <a:endParaRPr lang="zh-CN" altLang="en-US" sz="1200"/>
          </a:p>
          <a:p>
            <a:r>
              <a:rPr lang="zh-CN" altLang="en-US" sz="1200"/>
              <a:t>    &lt;dependencies&gt;</a:t>
            </a:r>
            <a:endParaRPr lang="zh-CN" altLang="en-US" sz="1200"/>
          </a:p>
          <a:p>
            <a:r>
              <a:rPr lang="zh-CN" altLang="en-US" sz="1200"/>
              <a:t>        &lt;dependency&gt;</a:t>
            </a:r>
            <a:endParaRPr lang="zh-CN" altLang="en-US" sz="1200"/>
          </a:p>
          <a:p>
            <a:r>
              <a:rPr lang="zh-CN" altLang="en-US" sz="1200"/>
              <a:t>            &lt;groupId&gt;org.apache.hbase&lt;/groupId&gt;</a:t>
            </a:r>
            <a:endParaRPr lang="zh-CN" altLang="en-US" sz="1200"/>
          </a:p>
          <a:p>
            <a:r>
              <a:rPr lang="zh-CN" altLang="en-US" sz="1200"/>
              <a:t>            &lt;artifactId&gt;hbase-client&lt;/artifactId&gt;</a:t>
            </a:r>
            <a:endParaRPr lang="zh-CN" altLang="en-US" sz="1200"/>
          </a:p>
          <a:p>
            <a:r>
              <a:rPr lang="zh-CN" altLang="en-US" sz="1200"/>
              <a:t>            &lt;version&gt;2.5.7&lt;/version&gt;</a:t>
            </a:r>
            <a:endParaRPr lang="zh-CN" altLang="en-US" sz="1200"/>
          </a:p>
          <a:p>
            <a:r>
              <a:rPr lang="zh-CN" altLang="en-US" sz="1200"/>
              <a:t>        &lt;/dependency&gt;</a:t>
            </a:r>
            <a:endParaRPr lang="zh-CN" altLang="en-US" sz="1200"/>
          </a:p>
          <a:p>
            <a:r>
              <a:rPr lang="zh-CN" altLang="en-US" sz="1200"/>
              <a:t>    &lt;/dependencies&gt;</a:t>
            </a:r>
            <a:endParaRPr lang="zh-CN" altLang="en-US" sz="1200"/>
          </a:p>
          <a:p>
            <a:r>
              <a:rPr lang="zh-CN" altLang="en-US" sz="1200"/>
              <a:t>&lt;/project&gt;</a:t>
            </a:r>
            <a:endParaRPr lang="zh-CN" altLang="en-US" sz="12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r>
              <a:rPr lang="zh-CN" altLang="en-US" dirty="0">
                <a:sym typeface="+mn-ea"/>
              </a:rPr>
              <a:t>实验指导</a:t>
            </a:r>
            <a:r>
              <a:rPr lang="en-US" altLang="zh-CN" dirty="0">
                <a:sym typeface="+mn-ea"/>
              </a:rPr>
              <a:t>-hbase </a:t>
            </a:r>
            <a:r>
              <a:rPr lang="zh-CN" altLang="en-US" dirty="0">
                <a:sym typeface="+mn-ea"/>
              </a:rPr>
              <a:t>编程</a:t>
            </a:r>
            <a:endParaRPr lang="zh-CN" altLang="en-US" dirty="0"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8935" y="1905000"/>
            <a:ext cx="8406130" cy="407987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542925" y="1358265"/>
            <a:ext cx="50577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点击</a:t>
            </a:r>
            <a:r>
              <a:rPr lang="en-US" altLang="zh-CN" sz="20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Maven-</a:t>
            </a:r>
            <a:r>
              <a:rPr lang="zh-CN" altLang="en-US" sz="20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刷新图标，刷新程序依赖</a:t>
            </a:r>
            <a:endParaRPr lang="zh-CN" altLang="en-US" sz="20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graphicFrame>
        <p:nvGraphicFramePr>
          <p:cNvPr id="2" name="对象 1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6172200" y="1219200"/>
          <a:ext cx="97155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" name="" showAsIcon="1" r:id="rId2" imgW="971550" imgH="800100" progId="Package">
                  <p:embed/>
                </p:oleObj>
              </mc:Choice>
              <mc:Fallback>
                <p:oleObj name="" showAsIcon="1" r:id="rId2" imgW="971550" imgH="800100" progId="Package">
                  <p:embed/>
                  <p:pic>
                    <p:nvPicPr>
                      <p:cNvPr id="0" name="图片 2048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172200" y="1219200"/>
                        <a:ext cx="971550" cy="800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r>
              <a:rPr lang="zh-CN" altLang="en-US" dirty="0">
                <a:sym typeface="+mn-ea"/>
              </a:rPr>
              <a:t>实验指导</a:t>
            </a:r>
            <a:r>
              <a:rPr lang="en-US" altLang="zh-CN" dirty="0">
                <a:sym typeface="+mn-ea"/>
              </a:rPr>
              <a:t>-hbase </a:t>
            </a:r>
            <a:r>
              <a:rPr lang="zh-CN" altLang="en-US" dirty="0">
                <a:sym typeface="+mn-ea"/>
              </a:rPr>
              <a:t>编程</a:t>
            </a:r>
            <a:endParaRPr lang="zh-CN" altLang="en-US" dirty="0"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42925" y="1358265"/>
            <a:ext cx="50577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点击右上角运行图标，运行</a:t>
            </a:r>
            <a:r>
              <a:rPr lang="zh-CN" altLang="en-US" sz="20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程序</a:t>
            </a:r>
            <a:endParaRPr lang="zh-CN" altLang="en-US" sz="20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4800" y="2124710"/>
            <a:ext cx="8646795" cy="3821430"/>
          </a:xfrm>
          <a:prstGeom prst="rect">
            <a:avLst/>
          </a:prstGeom>
        </p:spPr>
      </p:pic>
      <p:graphicFrame>
        <p:nvGraphicFramePr>
          <p:cNvPr id="3" name="对象 2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4291965" y="3206750"/>
          <a:ext cx="56007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" r:id="rId2" imgW="560070" imgH="444500" progId="Package">
                  <p:embed/>
                </p:oleObj>
              </mc:Choice>
              <mc:Fallback>
                <p:oleObj name="" r:id="rId2" imgW="560070" imgH="444500" progId="Package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291965" y="3206750"/>
                        <a:ext cx="560070" cy="444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4953000" y="1324610"/>
          <a:ext cx="97155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" showAsIcon="1" r:id="rId4" imgW="971550" imgH="800100" progId="Package">
                  <p:embed/>
                </p:oleObj>
              </mc:Choice>
              <mc:Fallback>
                <p:oleObj name="" showAsIcon="1" r:id="rId4" imgW="971550" imgH="800100" progId="Package">
                  <p:embed/>
                  <p:pic>
                    <p:nvPicPr>
                      <p:cNvPr id="0" name="图片 1025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953000" y="1324610"/>
                        <a:ext cx="971550" cy="800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r>
              <a:rPr lang="zh-CN" altLang="en-US" dirty="0">
                <a:sym typeface="+mn-ea"/>
              </a:rPr>
              <a:t>实验指导</a:t>
            </a:r>
            <a:r>
              <a:rPr lang="en-US" altLang="zh-CN" dirty="0">
                <a:sym typeface="+mn-ea"/>
              </a:rPr>
              <a:t>-hbase </a:t>
            </a:r>
            <a:r>
              <a:rPr lang="zh-CN" altLang="en-US" dirty="0">
                <a:sym typeface="+mn-ea"/>
              </a:rPr>
              <a:t>编程</a:t>
            </a:r>
            <a:endParaRPr lang="zh-CN" altLang="en-US" dirty="0"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42925" y="1358265"/>
            <a:ext cx="50577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运行</a:t>
            </a:r>
            <a:r>
              <a:rPr lang="zh-CN" altLang="en-US" sz="20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结果</a:t>
            </a:r>
            <a:endParaRPr lang="zh-CN" altLang="en-US" sz="20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9065" y="1958975"/>
            <a:ext cx="8866505" cy="464883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r>
              <a:rPr lang="zh-CN" altLang="en-US" dirty="0">
                <a:sym typeface="+mn-ea"/>
              </a:rPr>
              <a:t>实验指导</a:t>
            </a:r>
            <a:r>
              <a:rPr lang="en-US" altLang="zh-CN" dirty="0">
                <a:sym typeface="+mn-ea"/>
              </a:rPr>
              <a:t>-hbase </a:t>
            </a:r>
            <a:r>
              <a:rPr lang="zh-CN" altLang="en-US" dirty="0">
                <a:sym typeface="+mn-ea"/>
              </a:rPr>
              <a:t>编程</a:t>
            </a:r>
            <a:endParaRPr lang="zh-CN" altLang="en-US" dirty="0"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42925" y="1358265"/>
            <a:ext cx="50577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运行</a:t>
            </a:r>
            <a:r>
              <a:rPr lang="zh-CN" altLang="en-US" sz="20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结果</a:t>
            </a:r>
            <a:endParaRPr lang="zh-CN" altLang="en-US" sz="20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2362200"/>
            <a:ext cx="8884920" cy="121920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NjYzODNjMGI2OGMwMmM2YzkyODdiNmY1OTY5ZGEzZmEifQ=="/>
  <p:tag name="commondata" val="eyJoZGlkIjoiZDhhYTExMDJjNGU2YzU1OTkxODgwMzFiYjZlMjBmZjQifQ=="/>
</p:tagLst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黑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黑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4129</Words>
  <Application>WPS 演示</Application>
  <PresentationFormat>全屏显示(4:3)</PresentationFormat>
  <Paragraphs>238</Paragraphs>
  <Slides>21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21</vt:i4>
      </vt:variant>
    </vt:vector>
  </HeadingPairs>
  <TitlesOfParts>
    <vt:vector size="34" baseType="lpstr">
      <vt:lpstr>Arial</vt:lpstr>
      <vt:lpstr>宋体</vt:lpstr>
      <vt:lpstr>Wingdings</vt:lpstr>
      <vt:lpstr>黑体</vt:lpstr>
      <vt:lpstr>Times New Roman</vt:lpstr>
      <vt:lpstr>微软雅黑</vt:lpstr>
      <vt:lpstr>Arial Unicode MS</vt:lpstr>
      <vt:lpstr>默认设计模板</vt:lpstr>
      <vt:lpstr>1_默认设计模板</vt:lpstr>
      <vt:lpstr>Package</vt:lpstr>
      <vt:lpstr>Package</vt:lpstr>
      <vt:lpstr>Package</vt:lpstr>
      <vt:lpstr>Package</vt:lpstr>
      <vt:lpstr>PowerPoint 演示文稿</vt:lpstr>
      <vt:lpstr>实验内容</vt:lpstr>
      <vt:lpstr>实验内容-数据文件</vt:lpstr>
      <vt:lpstr>实验评价</vt:lpstr>
      <vt:lpstr>实验评价</vt:lpstr>
      <vt:lpstr>实验进度要求</vt:lpstr>
      <vt:lpstr>实验指导-hbase linux安装要点(可选)</vt:lpstr>
      <vt:lpstr>实验指导-hbase免安装加载</vt:lpstr>
      <vt:lpstr>实验指导-hbase启动</vt:lpstr>
      <vt:lpstr>实验指导-hbase 表操作</vt:lpstr>
      <vt:lpstr>实验指导-hbase 表操作</vt:lpstr>
      <vt:lpstr>实验指导-hbase 表操作</vt:lpstr>
      <vt:lpstr>实验指导-hbase 编程</vt:lpstr>
      <vt:lpstr>实验指导-hbase 编程</vt:lpstr>
      <vt:lpstr>实验指导-hbase 编程</vt:lpstr>
      <vt:lpstr>实验指导-hbase 编程</vt:lpstr>
      <vt:lpstr>实验指导-hbase 编程</vt:lpstr>
      <vt:lpstr>实验指导-hbase 编程</vt:lpstr>
      <vt:lpstr>实验指导-hbase 编程</vt:lpstr>
      <vt:lpstr>实验指导-hbase 编程</vt:lpstr>
      <vt:lpstr>实验指导-hbase 编程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大数据技术原理与应用</dc:title>
  <dc:creator>厦门大学-林子雨-编著</dc:creator>
  <dc:description>http://dblab.xmu.edu.cn/post/bigdata</dc:description>
  <cp:lastModifiedBy>侍效</cp:lastModifiedBy>
  <cp:revision>391</cp:revision>
  <dcterms:created xsi:type="dcterms:W3CDTF">2022-12-18T05:28:00Z</dcterms:created>
  <dcterms:modified xsi:type="dcterms:W3CDTF">2025-09-23T01:29:01Z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7A4BA865A6E44183B74DECF4A4053808_13</vt:lpwstr>
  </property>
  <property fmtid="{D5CDD505-2E9C-101B-9397-08002B2CF9AE}" pid="3" name="KSOProductBuildVer">
    <vt:lpwstr>2052-12.1.0.22529</vt:lpwstr>
  </property>
</Properties>
</file>